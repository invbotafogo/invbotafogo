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0"/>
  </p:notesMasterIdLst>
  <p:sldIdLst>
    <p:sldId id="256" r:id="rId2"/>
    <p:sldId id="257" r:id="rId3"/>
    <p:sldId id="258" r:id="rId4"/>
    <p:sldId id="259" r:id="rId5"/>
    <p:sldId id="262" r:id="rId6"/>
    <p:sldId id="263" r:id="rId7"/>
    <p:sldId id="264" r:id="rId8"/>
    <p:sldId id="260" r:id="rId9"/>
    <p:sldId id="261" r:id="rId10"/>
    <p:sldId id="265" r:id="rId11"/>
    <p:sldId id="266" r:id="rId12"/>
    <p:sldId id="313"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9" r:id="rId45"/>
    <p:sldId id="298" r:id="rId46"/>
    <p:sldId id="300" r:id="rId47"/>
    <p:sldId id="301" r:id="rId48"/>
    <p:sldId id="302" r:id="rId49"/>
    <p:sldId id="303" r:id="rId50"/>
    <p:sldId id="304" r:id="rId51"/>
    <p:sldId id="305" r:id="rId52"/>
    <p:sldId id="306" r:id="rId53"/>
    <p:sldId id="307" r:id="rId54"/>
    <p:sldId id="308" r:id="rId55"/>
    <p:sldId id="309" r:id="rId56"/>
    <p:sldId id="310" r:id="rId57"/>
    <p:sldId id="311" r:id="rId58"/>
    <p:sldId id="312" r:id="rId59"/>
  </p:sldIdLst>
  <p:sldSz cx="9144000" cy="6858000" type="screen4x3"/>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bertura" id="{CB65DA5F-7318-9263-EF61-A5B60F66D9CE}">
          <p14:sldIdLst>
            <p14:sldId id="256"/>
            <p14:sldId id="257"/>
          </p14:sldIdLst>
        </p14:section>
        <p14:section name="Livro de Daniel" id="{382682D6-8F15-473E-C741-7FC5B52BE275}">
          <p14:sldIdLst>
            <p14:sldId id="258"/>
            <p14:sldId id="259"/>
            <p14:sldId id="262"/>
            <p14:sldId id="263"/>
            <p14:sldId id="264"/>
            <p14:sldId id="260"/>
            <p14:sldId id="261"/>
          </p14:sldIdLst>
        </p14:section>
        <p14:section name="Tópico 1" id="{B7FDB6CE-7F8C-73FC-FB2F-CD6C3AB09B59}">
          <p14:sldIdLst>
            <p14:sldId id="265"/>
            <p14:sldId id="266"/>
            <p14:sldId id="313"/>
            <p14:sldId id="267"/>
            <p14:sldId id="268"/>
            <p14:sldId id="269"/>
            <p14:sldId id="270"/>
            <p14:sldId id="271"/>
            <p14:sldId id="272"/>
          </p14:sldIdLst>
        </p14:section>
        <p14:section name="Tópico 2" id="{D7071A79-2278-D64F-8AB5-6827DD390E87}">
          <p14:sldIdLst>
            <p14:sldId id="273"/>
            <p14:sldId id="274"/>
            <p14:sldId id="275"/>
            <p14:sldId id="276"/>
            <p14:sldId id="277"/>
            <p14:sldId id="278"/>
          </p14:sldIdLst>
        </p14:section>
        <p14:section name="Tópico 3" id="{FA854645-0926-4C5D-F286-815988C74D86}">
          <p14:sldIdLst>
            <p14:sldId id="279"/>
            <p14:sldId id="280"/>
            <p14:sldId id="281"/>
            <p14:sldId id="282"/>
            <p14:sldId id="283"/>
            <p14:sldId id="284"/>
            <p14:sldId id="285"/>
          </p14:sldIdLst>
        </p14:section>
        <p14:section name="Tópico 4" id="{DF364D17-DE1E-3A60-4836-D0547A0A7C73}">
          <p14:sldIdLst>
            <p14:sldId id="286"/>
            <p14:sldId id="287"/>
            <p14:sldId id="288"/>
            <p14:sldId id="289"/>
            <p14:sldId id="290"/>
            <p14:sldId id="291"/>
          </p14:sldIdLst>
        </p14:section>
        <p14:section name="Tópico 5" id="{A3164BA5-152F-0FF3-4FA5-598571B7C82E}">
          <p14:sldIdLst>
            <p14:sldId id="292"/>
            <p14:sldId id="293"/>
            <p14:sldId id="294"/>
            <p14:sldId id="295"/>
            <p14:sldId id="296"/>
            <p14:sldId id="297"/>
            <p14:sldId id="299"/>
            <p14:sldId id="298"/>
          </p14:sldIdLst>
        </p14:section>
        <p14:section name="Tópico 6" id="{7B36EA1E-81EB-B3BD-5185-5F37903834E8}">
          <p14:sldIdLst>
            <p14:sldId id="300"/>
            <p14:sldId id="301"/>
            <p14:sldId id="302"/>
            <p14:sldId id="303"/>
            <p14:sldId id="304"/>
            <p14:sldId id="305"/>
          </p14:sldIdLst>
        </p14:section>
        <p14:section name="Tópico 7" id="{5897A766-C3AE-437E-D33A-2B6F842D4E1A}">
          <p14:sldIdLst>
            <p14:sldId id="306"/>
            <p14:sldId id="307"/>
            <p14:sldId id="308"/>
            <p14:sldId id="309"/>
            <p14:sldId id="310"/>
            <p14:sldId id="311"/>
          </p14:sldIdLst>
        </p14:section>
        <p14:section name="Fim" id="{E8574D77-4071-13BB-0B71-EF405A63D5F7}">
          <p14:sldIdLst>
            <p14:sldId id="31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4" d="100"/>
          <a:sy n="114" d="100"/>
        </p:scale>
        <p:origin x="152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02F5B52-61D2-9C42-A06E-3E5768958C8D}" type="datetimeFigureOut">
              <a:rPr lang="pt-BR" smtClean="0"/>
              <a:t>29/10/2026</a:t>
            </a:fld>
            <a:endParaRPr lang="pt-BR"/>
          </a:p>
        </p:txBody>
      </p:sp>
      <p:sp>
        <p:nvSpPr>
          <p:cNvPr id="4" name="Espaço Reservado para Imagem de Slide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563508D-E2AE-A545-B483-B0DB572BD69A}" type="slidenum">
              <a:rPr lang="pt-BR" smtClean="0"/>
              <a:t>‹nº›</a:t>
            </a:fld>
            <a:endParaRPr lang="pt-BR"/>
          </a:p>
        </p:txBody>
      </p:sp>
    </p:spTree>
    <p:extLst>
      <p:ext uri="{BB962C8B-B14F-4D97-AF65-F5344CB8AC3E}">
        <p14:creationId xmlns:p14="http://schemas.microsoft.com/office/powerpoint/2010/main" val="39378945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COMENTÁRIO PESSOAL:
O costume de orar em horários determinados tem raízes na prática religiosa judaica. Na Lei de Moisés, Deus estabeleceu sacrifícios pela manhã e à tarde (Êxodo 29:38-39). Davi menciona orações pela manhã, ao meio-dia e à tarde (Salmo 55:17), demonstrando a prática de buscar a Deus em diferentes momentos do dia. Mais tarde, a tradição judaica consolidou o costume de orar três vezes ao dia.
Daniel 6:10 mostra que Daniel também mantinha essa prática. Mesmo no exílio, longe de Jerusalém, ele continuava orando três vezes ao dia, como já costumava fazer.
A Bíblia não informa quem ensinou Daniel a orar nesses horários, mas deixa claro que ele não abandonou sua comunhão com Deus nem quando isso passou a ameaçar sua vida.</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COMENTÁRIO PESSOAL:
Daniel foi examinar as Escrituras para compreender o motivo e o significado daquele período de exílio. Ao ler a profecia de Jeremias, entendeu que os setenta anos de desolação de Jerusalém estavam chegando ao fim (Dn 9:2).
Mas Daniel também reconhecia, à luz da Lei, que o exílio estava relacionado à desobediência do povo e ao juízo anunciado por Deus (Dn 9:5-14).
Ele não olhou apenas para o sofrimento; buscou entender, pela Palavra, o que Deus havia declarado sobre aquela situação. E, ao compreender isso, colocou-se diante do Senhor em oração, confessando os pecados do povo e suplicando por misericórdia e restauração.
Ele não ficou apenas questionando as circunstâncias; buscou na revelação de Deus o entendimento de que precisava.</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COMENTÁRIO PESSOAL:
Imagine uma pessoa que está passando por uma luta e começa a pensar: “Deus se esqueceu de mim. Se Ele estivesse comigo, eu não estaria passando por isso”.
Em vez de aceitar esse pensamento como verdade, ela vai às Escrituras e lê: “De maneira alguma te deixarei, nunca jamais te abandonarei” (Hebreus 13:5).
A dificuldade continua, mas agora ela tem uma verdade bíblica para confrontar sua conclusão. Assim como Daniel buscou nas Escrituras o entendimento sobre o que seu povo estava vivendo, nós também precisamos examinar a Palavra antes de tirar conclusões sobre Deus a partir das circunstâncias.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COMENTÁRIO PESSOAL:
Isso se aproxima mais do que Daniel fez em Daniel 9:2-3.
Essa compreensão direcionou sua oração.</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COMENTÁRIO PESSOAL:
Daniel começa reconhecendo quem Deus é: “Ah! Senhor! Deus grande e temível, que guardas a aliança e a misericórdia...” (Dn 9:4, ARA).
Neemias faz algo semelhante: “Ah! Senhor, Deus dos céus, Deus grande e temível, que guardas a aliança e a misericórdia...” (Ne 1:5, ARA).
Observe como os dois começam suas orações reconhecendo a grandeza de Deus e sua fidelidade à aliança antes de apresentarem suas súplicas.
Isso não significa que eles ignoravam suas necessidades, mas que se aproximavam de Deus reconhecendo quem Ele é e confiando em sua fidelidade.
Essa semelhança é significativa: ambos reconhecem a grandeza e a fidelidade de Deus antes de confessarem os pecados do povo e apresentarem suas súplicas.
Não podemos afirmar apenas por essa semelhança que um copiou o outro. Mas podemos observar que os dois fundamentaram suas orações no conhecimento de quem Deus é e de sua aliança com o povo.</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COMENTÁRIO PESSOAL:
“Deus não se contradiz nem revela algo que contrarie a sua Palavra.”
A Bíblia nos orienta a examinar tudo e reter o que é bom (1Ts 5:20-21) e a provar os espíritos (1Jo 4:1).
Isso não significa que tudo o que Deus nos mostra ou nos leva a compreender esteja escrito literalmente na Bíblia. Significa que nenhuma revelação, profecia ou direção atribuída a Deus pode contrariar aquilo que Ele já revelou nas Escrituras.
Por exemplo, alguém diz que recebeu uma revelação de Deus para se vingar de uma pessoa que lhe fez mal.
Mas a Palavra ensina: “Não vos vingueis a vós mesmos, amados” (Romanos 12:19).
Essa suposta revelação contradiz as Escrituras e, portanto, não deve ser aceita como uma direção de Deus.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COMENTÁRIO PESSOAL:
A comparação significa que uma criança aprende a se relacionar com o pai à medida que convive com ele, ouve o que ele diz e conhece sua maneira de agir. Com o tempo, ela passa a compreender melhor quem ele é e desenvolve confiança nele.
Mateus 18:3-4 “E disse: Em verdade vos digo que, se não vos converterdes e não vos fizerdes como crianças, de modo algum entrareis no Reino dos céus. Portanto, aquele que se tornar humilde como esta criança, esse é o maior no Reino dos céus.”
Assim como uma criança caminha com o pai, ouve sua voz, observa suas atitudes e aprende a confiar nele, também aprende a se relacionar com ele à medida que cresce. Ela não conhece o pai de uma só vez; esse conhecimento se desenvolve na convivência.
Então aqui não é apenas humildade, inocência, mas aprender sobre quem é ele, aprender a se relacionar com ele, a ouvir o que tem pra dizer, como ele age, quem Ele é, e a sua total dependência, é isso que Mateus está nos ensinando.</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COMENTÁRIO PESSOAL:
Daniel reconheceu que a fidelidade de Deus também se manifesta no cumprimento de sua Palavra: aquilo que o Senhor anuncia, Ele realiza, sejam promessas ou juízo.</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COMENTÁRIO PESSOAL:
Podemos dizer que o Senhor se inclina para o coração quebrantado, pois essa ideia está de acordo com o ensino bíblico.
O Salmo 51:17 declara: “Coração compungido e contrito, não o desprezarás, ó Deus.” (Salmo 51:17, ARA)
O sentido é que Deus não despreza quem se aproxima dele com arrependimento sincero e reconhece sua necessidade de transformação.
Mateus 28:20:
“E eis que eu estou convosco todos os dias, até à consumação do século.” (ARA)
Sim, você pode afirmar que Jesus prometeu estar conosco todos os dias até o fim dos tempos. No contexto, Ele estava comissionando os discípulos a fazer discípulos de todas as nações e ensiná-los a guardar tudo o que havia ordenado.</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COMENTÁRIO PESSOAL:
Esdras também demonstrou esse quebrantamento. Ao saber do pecado do povo, ele rasgou as vestes e o manto, arrancou cabelos da cabeça e da barba e se assentou consternado (Ed 9:3). Depois, em oração, confessou os pecados de Israel, dizendo: “Nossas iniquidades se multiplicaram sobre a nossa cabeça” (Ed 9:6).
Assim como Daniel, Esdras não tratou o pecado como um problema apenas dos outros. Ele se colocou diante de Deus em profunda humilhação e intercedeu pelo povo. Os dois nos ensinam que quem intercede não deve se colocar acima daqueles por quem ora, mas reconhecer a gravidade do pecado e buscar a misericórdia de Deus.</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COMENTÁRIO PESSOAL:
Aqui podemos falar sobre avivamento. Quando nos colocamos na posição que Deus deseja, nossa vida e nossa casa podem experimentar os frutos dessa comunhão com Ele. Mas, quando a igreja também se une em oração, quebrantamento e obediência à Palavra, todo o corpo pode experimentar um tempo de despertamento espiritual. O que Deus faz em nós individualmente não deve nos fazer esquecer daquilo que Ele deseja realizar em toda a igreja.</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COMENTÁRIO PESSOAL:
A igreja já parou para se perguntar por que lutamos tanto pela unidade do corpo de Cristo?
Não pense que, na minha casa, não existe unidade. Tanto existe que vivemos as misericórdias de Deus em todo tempo. É óbvio que não somos pessoas perfeitas, mas a presença de Deus na minha casa e na vida dos meus filhos não falta. E aqueles que estão na posição em que Deus deseja , creia que ainda que venham lutas, a presença de Deus é transbordante.
É o desejo de querer mais, estar sensível ao que Deus quer fazer na sua vida, mostra se vc já está sendo avivado ou não.
Falo de nós, eu e ele nunca vivemos o que estamos vivendo com Deus, e nós queremos mais..
Mas o que isso tem a ver na igreja reunida e unida que tanto pregamos e desejamos?
O que é avivamento? É um despertamento espiritual em que a igreja é chamada a buscar a Deus com profundidade, a reconhecer seus pecados, a se arrepender e a renovar seu compromisso com a Palavra e com a missão de Cristo.
Não se resume a manifestações emocionais ou experiências sobrenaturais. Um avivamento verdadeiro também produz frutos: vidas transformadas, pecados abandonados, relacionamentos restaurados e uma igreja mais comprometida com o Senhor.
Vou falar rapidamente sobre o primeiro grande avivamento da Igreja, no dia de Pentecostes. Antes de ascender aos céus, Jesus orientou seus discípulos a permanecerem em Jerusalém, aguardando a promessa do Pai: a vinda do Espírito Santo (At 1:4-8).
Quando chegou o dia de Pentecostes, todos estavam reunidos no mesmo lugar. De repente, veio do céu um som como de um vento impetuoso, e todos ficaram cheios do Espírito Santo e passaram a falar em outras línguas, conforme o Espírito lhes concedia que falassem (At 2:1-4).
Aqueles homens foram transformados pela ação do Espírito Santo. Pedro, que antes havia negado Jesus por medo, levantou-se com ousadia e anunciou o evangelho, e cerca de três mil pessoas se converteram naquele dia (At 2:14, 41). Os discípulos passaram a testemunhar de Cristo com coragem, e Deus operava milagres e curas por meio deles.
O que mudou? Eles receberam o poder do Espírito Santo para testemunhar de Jesus. O avivamento não foi apenas o que aconteceu naquele lugar, mas o revestimento de poder que capacitou os discípulos a testemunhar de Cristo e marcou profundamente a vida da igreja, e o decorrer da palavra vcs vão ver que ainda estavam sendo transformados.
Você já deve ter escutado falar no Avivamento do País de Gales, e da Rua Azuza.
Você já deve ter ouvido falar do Avivamento do País de Gales e do Avivamento da Rua Azusa, em Los Angeles. Mas você sabe como esses avivamentos aconteceram?
No País de Gales, em 1904, um dos principais nomes desse avivamento foi Evan Roberts, um jovem que havia trabalhado como mineiro e tinha um profundo desejo pela presença de Deus. Ele foi despertado para buscar mais ao Senhor, e essa busca alcançou outras pessoas. As reuniões foram crescendo, e o avivamento se espalhou por várias localidades, marcado por arrependimento, confissão de pecados e transformação de vidas. Os relatos históricos mencionam a diminuição da embriaguez e da criminalidade em algumas regiões, além de pessoas abandonando práticas erradas e restaurando relacionamentos.
Em 1906, na Rua Azusa, em Los Angeles, as reuniões lideradas por William J. Seymour também se tornaram um marco na história do pentecostalismo. Pessoas de diferentes origens se reuniam para orar e buscar a Deus. Ali, foram relatadas manifestações como o falar em línguas, curas e outras experiências atribuídas à ação do Espírito Santo. Aquelas reuniões atraíram pessoas de diversos lugares, e a mensagem pentecostal se espalhou pelo mundo.
Percebam que, nesses dois avivamentos, pessoas se reuniam com um desejo profundo de buscar a Deus. Não era apenas estar no mesmo lugar, mas buscar juntas a presença do Senhor. E, quando o evangelho alcançava as pessoas, essa experiência produzia mudanças que ultrapassavam as reuniões e chegavam à vida cotidiana, aos relacionamentos e à comunidade.
O avivamento não é apenas sentir a presença de Deus; é permitir que Ele transforme nosso caráter e nossa maneira de viver. Quando vidas são transformadas, famílias e comunidades também podem experimentar os efeitos dessa mudança. E quando a igreja permanece unida, buscando a Deus e vivendo a Palavra, o testemunho do evangelho alcança outras pessoas.
O avivamento que desperta a igreja para Cristo também precisa produzir frutos que sejam percebidos na maneira como vivemos em sociedade.
É por isso que precisamos lutar pela unidade da igreja. Quando buscamos a Deus juntos e permitimos que Ele trate o nosso coração, somos fortalecidos para viver o amor, o perdão e a paz. E uma igreja transformada pode ser instrumento de Deus para levar essa paz às famílias e à comunidade onde está inserida.”
Aí está o Ide, não é só alcançar aquele que nunca ouviu, é alcançar aquele que vive com vc pela transformação que Jesus fez na sua vida.</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APA">
    <p:bg>
      <p:bgPr>
        <a:solidFill>
          <a:srgbClr val="000000"/>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1371600"/>
            <a:ext cx="8229600" cy="4114800"/>
          </a:xfrm>
          <a:prstGeom prst="rect">
            <a:avLst/>
          </a:prstGeom>
          <a:noFill/>
          <a:ln/>
        </p:spPr>
        <p:txBody>
          <a:bodyPr wrap="square" rtlCol="0"/>
          <a:lstStyle>
            <a:lvl1pPr marL="0" indent="0" algn="ctr">
              <a:buNone/>
              <a:defRPr lang="en-US" sz="4400" b="1" dirty="0">
                <a:solidFill>
                  <a:schemeClr val="accent1"/>
                </a:solidFill>
                <a:latin typeface="Arial" pitchFamily="34" charset="0"/>
                <a:ea typeface="Arial" pitchFamily="34" charset="-122"/>
                <a:cs typeface="Arial" pitchFamily="34" charset="-120"/>
              </a:defRPr>
            </a:lvl1pPr>
          </a:lstStyle>
          <a:p>
            <a:pPr marL="0" indent="0" algn="ctr">
              <a:buNone/>
            </a:pPr>
            <a:endParaRPr lang="en-US" sz="4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UDO">
    <p:bg>
      <p:bgPr>
        <a:solidFill>
          <a:srgbClr val="000000"/>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ESTAQUE">
    <p:bg>
      <p:bgPr>
        <a:solidFill>
          <a:srgbClr val="000000"/>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1371600"/>
            <a:ext cx="8229600" cy="4114800"/>
          </a:xfrm>
          <a:prstGeom prst="rect">
            <a:avLst/>
          </a:prstGeom>
          <a:noFill/>
          <a:ln/>
        </p:spPr>
        <p:txBody>
          <a:bodyPr wrap="square" rtlCol="0" anchor="ctr"/>
          <a:lstStyle/>
          <a:p>
            <a:pPr marL="0" indent="0" algn="ctr">
              <a:buNone/>
            </a:pPr>
            <a:r>
              <a:rPr lang="en-US" sz="4400" b="1" dirty="0">
                <a:solidFill>
                  <a:schemeClr val="accent1"/>
                </a:solidFill>
                <a:latin typeface="Arial" pitchFamily="34" charset="0"/>
                <a:ea typeface="Arial" pitchFamily="34" charset="-122"/>
                <a:cs typeface="Arial" pitchFamily="34" charset="-120"/>
              </a:rPr>
              <a:t>“DANIEL ORA CONFORME A PALAVRA DE DEUS”</a:t>
            </a:r>
            <a:endParaRPr lang="en-US" sz="4400" dirty="0"/>
          </a:p>
          <a:p>
            <a:pPr marL="0" indent="0" algn="ctr">
              <a:buNone/>
            </a:pPr>
            <a:r>
              <a:rPr lang="en-US" sz="4400" b="1" dirty="0">
                <a:solidFill>
                  <a:schemeClr val="accent1"/>
                </a:solidFill>
                <a:latin typeface="Arial" pitchFamily="34" charset="0"/>
                <a:ea typeface="Arial" pitchFamily="34" charset="-122"/>
                <a:cs typeface="Arial" pitchFamily="34" charset="-120"/>
              </a:rPr>
              <a:t>( Dn.9:2 )</a:t>
            </a:r>
            <a:endParaRPr lang="en-US" sz="4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o"/>
          <p:cNvSpPr txBox="1"/>
          <p:nvPr/>
        </p:nvSpPr>
        <p:spPr>
          <a:xfrm>
            <a:off x="182880" y="274320"/>
            <a:ext cx="8778240" cy="6309360"/>
          </a:xfrm>
          <a:prstGeom prst="rect">
            <a:avLst/>
          </a:prstGeom>
          <a:noFill/>
          <a:ln/>
        </p:spPr>
        <p:txBody>
          <a:bodyPr wrap="square" lIns="63500" tIns="63500" rIns="63500" bIns="63500" rtlCol="0" anchor="t"/>
          <a:lstStyle/>
          <a:p>
            <a:pPr marL="0" indent="0" algn="l">
              <a:buNone/>
            </a:pPr>
            <a:r>
              <a:rPr lang="en-US" sz="2400" b="1" dirty="0">
                <a:solidFill>
                  <a:schemeClr val="accent1"/>
                </a:solidFill>
                <a:latin typeface="Arial" pitchFamily="34" charset="0"/>
                <a:ea typeface="Arial" pitchFamily="34" charset="-122"/>
                <a:cs typeface="Arial" pitchFamily="34" charset="-120"/>
              </a:rPr>
              <a:t> DANIEL ORA CONFORME A PALAVRA DE DEUS</a:t>
            </a:r>
            <a:endParaRPr lang="en-US" sz="2400" dirty="0"/>
          </a:p>
          <a:p>
            <a:pPr marL="0" indent="0" algn="l">
              <a:buNone/>
            </a:pPr>
            <a:endParaRPr lang="en-US" sz="2400" dirty="0"/>
          </a:p>
          <a:p>
            <a:pPr marL="0" indent="0" algn="l">
              <a:buNone/>
            </a:pPr>
            <a:endParaRPr lang="en-US" sz="2400" dirty="0"/>
          </a:p>
          <a:p>
            <a:pPr marL="0" indent="0" algn="l">
              <a:buNone/>
            </a:pPr>
            <a:r>
              <a:rPr lang="en-US" sz="2400" dirty="0">
                <a:solidFill>
                  <a:schemeClr val="bg1"/>
                </a:solidFill>
                <a:latin typeface="Arial" pitchFamily="34" charset="0"/>
                <a:ea typeface="Arial" pitchFamily="34" charset="-122"/>
                <a:cs typeface="Arial" pitchFamily="34" charset="-120"/>
              </a:rPr>
              <a:t>D</a:t>
            </a:r>
            <a:r>
              <a:rPr lang="pt-BR" sz="2400" dirty="0">
                <a:solidFill>
                  <a:schemeClr val="bg1"/>
                </a:solidFill>
                <a:latin typeface="Arial" pitchFamily="34" charset="0"/>
                <a:ea typeface="Arial" pitchFamily="34" charset="-122"/>
                <a:cs typeface="Arial" pitchFamily="34" charset="-120"/>
              </a:rPr>
              <a:t>n.</a:t>
            </a:r>
            <a:r>
              <a:rPr lang="en-US" sz="2400" dirty="0">
                <a:solidFill>
                  <a:schemeClr val="bg1"/>
                </a:solidFill>
                <a:latin typeface="Arial" pitchFamily="34" charset="0"/>
                <a:ea typeface="Arial" pitchFamily="34" charset="-122"/>
                <a:cs typeface="Arial" pitchFamily="34" charset="-120"/>
              </a:rPr>
              <a:t>9:2. </a:t>
            </a:r>
            <a:r>
              <a:rPr lang="pt-BR" sz="2400" dirty="0">
                <a:solidFill>
                  <a:schemeClr val="bg1"/>
                </a:solidFill>
                <a:latin typeface="Arial" pitchFamily="34" charset="0"/>
                <a:ea typeface="Arial" pitchFamily="34" charset="-122"/>
                <a:cs typeface="Arial" pitchFamily="34" charset="-120"/>
              </a:rPr>
              <a:t>“</a:t>
            </a:r>
            <a:r>
              <a:rPr lang="en-US" sz="2400" dirty="0">
                <a:solidFill>
                  <a:schemeClr val="bg1"/>
                </a:solidFill>
                <a:latin typeface="Arial" pitchFamily="34" charset="0"/>
                <a:ea typeface="Arial" pitchFamily="34" charset="-122"/>
                <a:cs typeface="Arial" pitchFamily="34" charset="-120"/>
              </a:rPr>
              <a:t>no </a:t>
            </a:r>
            <a:r>
              <a:rPr lang="en-US" sz="2400" dirty="0" err="1">
                <a:solidFill>
                  <a:schemeClr val="bg1"/>
                </a:solidFill>
                <a:latin typeface="Arial" pitchFamily="34" charset="0"/>
                <a:ea typeface="Arial" pitchFamily="34" charset="-122"/>
                <a:cs typeface="Arial" pitchFamily="34" charset="-120"/>
              </a:rPr>
              <a:t>primeiro</a:t>
            </a:r>
            <a:r>
              <a:rPr lang="en-US" sz="2400" dirty="0">
                <a:solidFill>
                  <a:schemeClr val="bg1"/>
                </a:solidFill>
                <a:latin typeface="Arial" pitchFamily="34" charset="0"/>
                <a:ea typeface="Arial" pitchFamily="34" charset="-122"/>
                <a:cs typeface="Arial" pitchFamily="34" charset="-120"/>
              </a:rPr>
              <a:t> </a:t>
            </a:r>
            <a:r>
              <a:rPr lang="en-US" sz="2400" dirty="0" err="1">
                <a:solidFill>
                  <a:schemeClr val="bg1"/>
                </a:solidFill>
                <a:latin typeface="Arial" pitchFamily="34" charset="0"/>
                <a:ea typeface="Arial" pitchFamily="34" charset="-122"/>
                <a:cs typeface="Arial" pitchFamily="34" charset="-120"/>
              </a:rPr>
              <a:t>ano</a:t>
            </a:r>
            <a:r>
              <a:rPr lang="en-US" sz="2400" dirty="0">
                <a:solidFill>
                  <a:schemeClr val="bg1"/>
                </a:solidFill>
                <a:latin typeface="Arial" pitchFamily="34" charset="0"/>
                <a:ea typeface="Arial" pitchFamily="34" charset="-122"/>
                <a:cs typeface="Arial" pitchFamily="34" charset="-120"/>
              </a:rPr>
              <a:t> do </a:t>
            </a:r>
            <a:r>
              <a:rPr lang="en-US" sz="2400" dirty="0" err="1">
                <a:solidFill>
                  <a:schemeClr val="bg1"/>
                </a:solidFill>
                <a:latin typeface="Arial" pitchFamily="34" charset="0"/>
                <a:ea typeface="Arial" pitchFamily="34" charset="-122"/>
                <a:cs typeface="Arial" pitchFamily="34" charset="-120"/>
              </a:rPr>
              <a:t>seu</a:t>
            </a:r>
            <a:r>
              <a:rPr lang="en-US" sz="2400" dirty="0">
                <a:solidFill>
                  <a:schemeClr val="bg1"/>
                </a:solidFill>
                <a:latin typeface="Arial" pitchFamily="34" charset="0"/>
                <a:ea typeface="Arial" pitchFamily="34" charset="-122"/>
                <a:cs typeface="Arial" pitchFamily="34" charset="-120"/>
              </a:rPr>
              <a:t> </a:t>
            </a:r>
            <a:r>
              <a:rPr lang="en-US" sz="2400" dirty="0" err="1">
                <a:solidFill>
                  <a:schemeClr val="bg1"/>
                </a:solidFill>
                <a:latin typeface="Arial" pitchFamily="34" charset="0"/>
                <a:ea typeface="Arial" pitchFamily="34" charset="-122"/>
                <a:cs typeface="Arial" pitchFamily="34" charset="-120"/>
              </a:rPr>
              <a:t>reinado</a:t>
            </a:r>
            <a:r>
              <a:rPr lang="en-US" sz="2400" dirty="0">
                <a:solidFill>
                  <a:schemeClr val="bg1"/>
                </a:solidFill>
                <a:latin typeface="Arial" pitchFamily="34" charset="0"/>
                <a:ea typeface="Arial" pitchFamily="34" charset="-122"/>
                <a:cs typeface="Arial" pitchFamily="34" charset="-120"/>
              </a:rPr>
              <a:t>, eu, Daniel, </a:t>
            </a:r>
            <a:r>
              <a:rPr lang="en-US" sz="2400" dirty="0" err="1">
                <a:solidFill>
                  <a:schemeClr val="bg1"/>
                </a:solidFill>
                <a:latin typeface="Arial" pitchFamily="34" charset="0"/>
                <a:ea typeface="Arial" pitchFamily="34" charset="-122"/>
                <a:cs typeface="Arial" pitchFamily="34" charset="-120"/>
              </a:rPr>
              <a:t>entendi</a:t>
            </a:r>
            <a:r>
              <a:rPr lang="en-US" sz="2400" dirty="0">
                <a:solidFill>
                  <a:schemeClr val="bg1"/>
                </a:solidFill>
                <a:latin typeface="Arial" pitchFamily="34" charset="0"/>
                <a:ea typeface="Arial" pitchFamily="34" charset="-122"/>
                <a:cs typeface="Arial" pitchFamily="34" charset="-120"/>
              </a:rPr>
              <a:t>, </a:t>
            </a:r>
            <a:r>
              <a:rPr lang="en-US" sz="2400" dirty="0" err="1">
                <a:solidFill>
                  <a:schemeClr val="bg1"/>
                </a:solidFill>
                <a:latin typeface="Arial" pitchFamily="34" charset="0"/>
                <a:ea typeface="Arial" pitchFamily="34" charset="-122"/>
                <a:cs typeface="Arial" pitchFamily="34" charset="-120"/>
              </a:rPr>
              <a:t>pelos</a:t>
            </a:r>
            <a:r>
              <a:rPr lang="en-US" sz="2400" dirty="0">
                <a:solidFill>
                  <a:schemeClr val="bg1"/>
                </a:solidFill>
                <a:latin typeface="Arial" pitchFamily="34" charset="0"/>
                <a:ea typeface="Arial" pitchFamily="34" charset="-122"/>
                <a:cs typeface="Arial" pitchFamily="34" charset="-120"/>
              </a:rPr>
              <a:t> </a:t>
            </a:r>
            <a:r>
              <a:rPr lang="en-US" sz="2400" dirty="0" err="1">
                <a:solidFill>
                  <a:schemeClr val="bg1"/>
                </a:solidFill>
                <a:latin typeface="Arial" pitchFamily="34" charset="0"/>
                <a:ea typeface="Arial" pitchFamily="34" charset="-122"/>
                <a:cs typeface="Arial" pitchFamily="34" charset="-120"/>
              </a:rPr>
              <a:t>livros</a:t>
            </a:r>
            <a:r>
              <a:rPr lang="en-US" sz="2400" dirty="0">
                <a:solidFill>
                  <a:schemeClr val="bg1"/>
                </a:solidFill>
                <a:latin typeface="Arial" pitchFamily="34" charset="0"/>
                <a:ea typeface="Arial" pitchFamily="34" charset="-122"/>
                <a:cs typeface="Arial" pitchFamily="34" charset="-120"/>
              </a:rPr>
              <a:t>, </a:t>
            </a:r>
            <a:r>
              <a:rPr lang="en-US" sz="2400" dirty="0" err="1">
                <a:solidFill>
                  <a:schemeClr val="bg1"/>
                </a:solidFill>
                <a:latin typeface="Arial" pitchFamily="34" charset="0"/>
                <a:ea typeface="Arial" pitchFamily="34" charset="-122"/>
                <a:cs typeface="Arial" pitchFamily="34" charset="-120"/>
              </a:rPr>
              <a:t>que</a:t>
            </a:r>
            <a:r>
              <a:rPr lang="en-US" sz="2400" dirty="0">
                <a:solidFill>
                  <a:schemeClr val="bg1"/>
                </a:solidFill>
                <a:latin typeface="Arial" pitchFamily="34" charset="0"/>
                <a:ea typeface="Arial" pitchFamily="34" charset="-122"/>
                <a:cs typeface="Arial" pitchFamily="34" charset="-120"/>
              </a:rPr>
              <a:t> o número de </a:t>
            </a:r>
            <a:r>
              <a:rPr lang="en-US" sz="2400" dirty="0" err="1">
                <a:solidFill>
                  <a:schemeClr val="bg1"/>
                </a:solidFill>
                <a:latin typeface="Arial" pitchFamily="34" charset="0"/>
                <a:ea typeface="Arial" pitchFamily="34" charset="-122"/>
                <a:cs typeface="Arial" pitchFamily="34" charset="-120"/>
              </a:rPr>
              <a:t>anos</a:t>
            </a:r>
            <a:r>
              <a:rPr lang="en-US" sz="2400" dirty="0">
                <a:solidFill>
                  <a:schemeClr val="bg1"/>
                </a:solidFill>
                <a:latin typeface="Arial" pitchFamily="34" charset="0"/>
                <a:ea typeface="Arial" pitchFamily="34" charset="-122"/>
                <a:cs typeface="Arial" pitchFamily="34" charset="-120"/>
              </a:rPr>
              <a:t>, de </a:t>
            </a:r>
            <a:r>
              <a:rPr lang="en-US" sz="2400" dirty="0" err="1">
                <a:solidFill>
                  <a:schemeClr val="bg1"/>
                </a:solidFill>
                <a:latin typeface="Arial" pitchFamily="34" charset="0"/>
                <a:ea typeface="Arial" pitchFamily="34" charset="-122"/>
                <a:cs typeface="Arial" pitchFamily="34" charset="-120"/>
              </a:rPr>
              <a:t>que</a:t>
            </a:r>
            <a:r>
              <a:rPr lang="en-US" sz="2400" dirty="0">
                <a:solidFill>
                  <a:schemeClr val="bg1"/>
                </a:solidFill>
                <a:latin typeface="Arial" pitchFamily="34" charset="0"/>
                <a:ea typeface="Arial" pitchFamily="34" charset="-122"/>
                <a:cs typeface="Arial" pitchFamily="34" charset="-120"/>
              </a:rPr>
              <a:t> </a:t>
            </a:r>
            <a:r>
              <a:rPr lang="en-US" sz="2400" dirty="0" err="1">
                <a:solidFill>
                  <a:schemeClr val="bg1"/>
                </a:solidFill>
                <a:latin typeface="Arial" pitchFamily="34" charset="0"/>
                <a:ea typeface="Arial" pitchFamily="34" charset="-122"/>
                <a:cs typeface="Arial" pitchFamily="34" charset="-120"/>
              </a:rPr>
              <a:t>falara</a:t>
            </a:r>
            <a:r>
              <a:rPr lang="en-US" sz="2400" dirty="0">
                <a:solidFill>
                  <a:schemeClr val="bg1"/>
                </a:solidFill>
                <a:latin typeface="Arial" pitchFamily="34" charset="0"/>
                <a:ea typeface="Arial" pitchFamily="34" charset="-122"/>
                <a:cs typeface="Arial" pitchFamily="34" charset="-120"/>
              </a:rPr>
              <a:t> o </a:t>
            </a:r>
            <a:r>
              <a:rPr lang="en-US" sz="2400" dirty="0" err="1">
                <a:solidFill>
                  <a:schemeClr val="bg1"/>
                </a:solidFill>
                <a:latin typeface="Arial" pitchFamily="34" charset="0"/>
                <a:ea typeface="Arial" pitchFamily="34" charset="-122"/>
                <a:cs typeface="Arial" pitchFamily="34" charset="-120"/>
              </a:rPr>
              <a:t>Senhor</a:t>
            </a:r>
            <a:r>
              <a:rPr lang="en-US" sz="2400" dirty="0">
                <a:solidFill>
                  <a:schemeClr val="bg1"/>
                </a:solidFill>
                <a:latin typeface="Arial" pitchFamily="34" charset="0"/>
                <a:ea typeface="Arial" pitchFamily="34" charset="-122"/>
                <a:cs typeface="Arial" pitchFamily="34" charset="-120"/>
              </a:rPr>
              <a:t> </a:t>
            </a:r>
            <a:r>
              <a:rPr lang="en-US" sz="2400" dirty="0" err="1">
                <a:solidFill>
                  <a:schemeClr val="bg1"/>
                </a:solidFill>
                <a:latin typeface="Arial" pitchFamily="34" charset="0"/>
                <a:ea typeface="Arial" pitchFamily="34" charset="-122"/>
                <a:cs typeface="Arial" pitchFamily="34" charset="-120"/>
              </a:rPr>
              <a:t>ao</a:t>
            </a:r>
            <a:r>
              <a:rPr lang="en-US" sz="2400" dirty="0">
                <a:solidFill>
                  <a:schemeClr val="bg1"/>
                </a:solidFill>
                <a:latin typeface="Arial" pitchFamily="34" charset="0"/>
                <a:ea typeface="Arial" pitchFamily="34" charset="-122"/>
                <a:cs typeface="Arial" pitchFamily="34" charset="-120"/>
              </a:rPr>
              <a:t> </a:t>
            </a:r>
            <a:r>
              <a:rPr lang="en-US" sz="2400" dirty="0" err="1">
                <a:solidFill>
                  <a:schemeClr val="bg1"/>
                </a:solidFill>
                <a:latin typeface="Arial" pitchFamily="34" charset="0"/>
                <a:ea typeface="Arial" pitchFamily="34" charset="-122"/>
                <a:cs typeface="Arial" pitchFamily="34" charset="-120"/>
              </a:rPr>
              <a:t>profeta</a:t>
            </a:r>
            <a:r>
              <a:rPr lang="en-US" sz="2400" dirty="0">
                <a:solidFill>
                  <a:schemeClr val="bg1"/>
                </a:solidFill>
                <a:latin typeface="Arial" pitchFamily="34" charset="0"/>
                <a:ea typeface="Arial" pitchFamily="34" charset="-122"/>
                <a:cs typeface="Arial" pitchFamily="34" charset="-120"/>
              </a:rPr>
              <a:t> </a:t>
            </a:r>
            <a:r>
              <a:rPr lang="en-US" sz="2400" dirty="0" err="1">
                <a:solidFill>
                  <a:schemeClr val="bg1"/>
                </a:solidFill>
                <a:latin typeface="Arial" pitchFamily="34" charset="0"/>
                <a:ea typeface="Arial" pitchFamily="34" charset="-122"/>
                <a:cs typeface="Arial" pitchFamily="34" charset="-120"/>
              </a:rPr>
              <a:t>Jeremias</a:t>
            </a:r>
            <a:r>
              <a:rPr lang="en-US" sz="2400" dirty="0">
                <a:solidFill>
                  <a:schemeClr val="bg1"/>
                </a:solidFill>
                <a:latin typeface="Arial" pitchFamily="34" charset="0"/>
                <a:ea typeface="Arial" pitchFamily="34" charset="-122"/>
                <a:cs typeface="Arial" pitchFamily="34" charset="-120"/>
              </a:rPr>
              <a:t>, </a:t>
            </a:r>
            <a:r>
              <a:rPr lang="en-US" sz="2400" dirty="0" err="1">
                <a:solidFill>
                  <a:schemeClr val="bg1"/>
                </a:solidFill>
                <a:latin typeface="Arial" pitchFamily="34" charset="0"/>
                <a:ea typeface="Arial" pitchFamily="34" charset="-122"/>
                <a:cs typeface="Arial" pitchFamily="34" charset="-120"/>
              </a:rPr>
              <a:t>que</a:t>
            </a:r>
            <a:r>
              <a:rPr lang="en-US" sz="2400" dirty="0">
                <a:solidFill>
                  <a:schemeClr val="bg1"/>
                </a:solidFill>
                <a:latin typeface="Arial" pitchFamily="34" charset="0"/>
                <a:ea typeface="Arial" pitchFamily="34" charset="-122"/>
                <a:cs typeface="Arial" pitchFamily="34" charset="-120"/>
              </a:rPr>
              <a:t> </a:t>
            </a:r>
            <a:r>
              <a:rPr lang="en-US" sz="2400" dirty="0" err="1">
                <a:solidFill>
                  <a:schemeClr val="bg1"/>
                </a:solidFill>
                <a:latin typeface="Arial" pitchFamily="34" charset="0"/>
                <a:ea typeface="Arial" pitchFamily="34" charset="-122"/>
                <a:cs typeface="Arial" pitchFamily="34" charset="-120"/>
              </a:rPr>
              <a:t>haviam</a:t>
            </a:r>
            <a:r>
              <a:rPr lang="en-US" sz="2400" dirty="0">
                <a:solidFill>
                  <a:schemeClr val="bg1"/>
                </a:solidFill>
                <a:latin typeface="Arial" pitchFamily="34" charset="0"/>
                <a:ea typeface="Arial" pitchFamily="34" charset="-122"/>
                <a:cs typeface="Arial" pitchFamily="34" charset="-120"/>
              </a:rPr>
              <a:t> de </a:t>
            </a:r>
            <a:r>
              <a:rPr lang="en-US" sz="2400" dirty="0" err="1">
                <a:solidFill>
                  <a:schemeClr val="bg1"/>
                </a:solidFill>
                <a:latin typeface="Arial" pitchFamily="34" charset="0"/>
                <a:ea typeface="Arial" pitchFamily="34" charset="-122"/>
                <a:cs typeface="Arial" pitchFamily="34" charset="-120"/>
              </a:rPr>
              <a:t>durar</a:t>
            </a:r>
            <a:r>
              <a:rPr lang="en-US" sz="2400" dirty="0">
                <a:solidFill>
                  <a:schemeClr val="bg1"/>
                </a:solidFill>
                <a:latin typeface="Arial" pitchFamily="34" charset="0"/>
                <a:ea typeface="Arial" pitchFamily="34" charset="-122"/>
                <a:cs typeface="Arial" pitchFamily="34" charset="-120"/>
              </a:rPr>
              <a:t> as </a:t>
            </a:r>
            <a:r>
              <a:rPr lang="en-US" sz="2400" dirty="0" err="1">
                <a:solidFill>
                  <a:schemeClr val="bg1"/>
                </a:solidFill>
                <a:latin typeface="Arial" pitchFamily="34" charset="0"/>
                <a:ea typeface="Arial" pitchFamily="34" charset="-122"/>
                <a:cs typeface="Arial" pitchFamily="34" charset="-120"/>
              </a:rPr>
              <a:t>assolações</a:t>
            </a:r>
            <a:r>
              <a:rPr lang="en-US" sz="2400" dirty="0">
                <a:solidFill>
                  <a:schemeClr val="bg1"/>
                </a:solidFill>
                <a:latin typeface="Arial" pitchFamily="34" charset="0"/>
                <a:ea typeface="Arial" pitchFamily="34" charset="-122"/>
                <a:cs typeface="Arial" pitchFamily="34" charset="-120"/>
              </a:rPr>
              <a:t> de </a:t>
            </a:r>
            <a:r>
              <a:rPr lang="en-US" sz="2400" dirty="0" err="1">
                <a:solidFill>
                  <a:schemeClr val="bg1"/>
                </a:solidFill>
                <a:latin typeface="Arial" pitchFamily="34" charset="0"/>
                <a:ea typeface="Arial" pitchFamily="34" charset="-122"/>
                <a:cs typeface="Arial" pitchFamily="34" charset="-120"/>
              </a:rPr>
              <a:t>Jerusalém</a:t>
            </a:r>
            <a:r>
              <a:rPr lang="en-US" sz="2400" dirty="0">
                <a:solidFill>
                  <a:schemeClr val="bg1"/>
                </a:solidFill>
                <a:latin typeface="Arial" pitchFamily="34" charset="0"/>
                <a:ea typeface="Arial" pitchFamily="34" charset="-122"/>
                <a:cs typeface="Arial" pitchFamily="34" charset="-120"/>
              </a:rPr>
              <a:t>, era de </a:t>
            </a:r>
            <a:r>
              <a:rPr lang="en-US" sz="2400" dirty="0" err="1">
                <a:solidFill>
                  <a:schemeClr val="bg1"/>
                </a:solidFill>
                <a:latin typeface="Arial" pitchFamily="34" charset="0"/>
                <a:ea typeface="Arial" pitchFamily="34" charset="-122"/>
                <a:cs typeface="Arial" pitchFamily="34" charset="-120"/>
              </a:rPr>
              <a:t>setenta</a:t>
            </a:r>
            <a:r>
              <a:rPr lang="en-US" sz="2400" dirty="0">
                <a:solidFill>
                  <a:schemeClr val="bg1"/>
                </a:solidFill>
                <a:latin typeface="Arial" pitchFamily="34" charset="0"/>
                <a:ea typeface="Arial" pitchFamily="34" charset="-122"/>
                <a:cs typeface="Arial" pitchFamily="34" charset="-120"/>
              </a:rPr>
              <a:t> </a:t>
            </a:r>
            <a:r>
              <a:rPr lang="en-US" sz="2400" dirty="0" err="1">
                <a:solidFill>
                  <a:schemeClr val="bg1"/>
                </a:solidFill>
                <a:latin typeface="Arial" pitchFamily="34" charset="0"/>
                <a:ea typeface="Arial" pitchFamily="34" charset="-122"/>
                <a:cs typeface="Arial" pitchFamily="34" charset="-120"/>
              </a:rPr>
              <a:t>anos</a:t>
            </a:r>
            <a:r>
              <a:rPr lang="en-US" sz="2400" dirty="0">
                <a:solidFill>
                  <a:schemeClr val="bg1"/>
                </a:solidFill>
                <a:latin typeface="Arial" pitchFamily="34" charset="0"/>
                <a:ea typeface="Arial" pitchFamily="34" charset="-122"/>
                <a:cs typeface="Arial" pitchFamily="34" charset="-120"/>
              </a:rPr>
              <a:t>.</a:t>
            </a:r>
            <a:r>
              <a:rPr lang="pt-BR" sz="2400" dirty="0">
                <a:solidFill>
                  <a:schemeClr val="bg1"/>
                </a:solidFill>
                <a:latin typeface="Arial" pitchFamily="34" charset="0"/>
                <a:ea typeface="Arial" pitchFamily="34" charset="-122"/>
                <a:cs typeface="Arial" pitchFamily="34" charset="-120"/>
              </a:rPr>
              <a:t>”</a:t>
            </a:r>
            <a:endParaRPr lang="en-US" sz="2400" dirty="0"/>
          </a:p>
          <a:p>
            <a:pPr marL="0" indent="0" algn="l">
              <a:buNone/>
            </a:pPr>
            <a:endParaRPr lang="en-US" sz="2400" dirty="0"/>
          </a:p>
          <a:p>
            <a:pPr marL="0" indent="0" algn="l">
              <a:buNone/>
            </a:pPr>
            <a:r>
              <a:rPr lang="en-US" sz="2400" dirty="0">
                <a:solidFill>
                  <a:schemeClr val="accent1"/>
                </a:solidFill>
                <a:latin typeface="Arial" pitchFamily="34" charset="0"/>
                <a:ea typeface="Arial" pitchFamily="34" charset="-122"/>
                <a:cs typeface="Arial" pitchFamily="34" charset="-120"/>
              </a:rPr>
              <a:t>Objetivo:</a:t>
            </a:r>
            <a:endParaRPr lang="en-US" sz="2400" dirty="0"/>
          </a:p>
          <a:p>
            <a:pPr marL="0" indent="0" algn="l">
              <a:buNone/>
            </a:pPr>
            <a:r>
              <a:rPr lang="en-US" sz="2400" dirty="0">
                <a:solidFill>
                  <a:schemeClr val="bg1"/>
                </a:solidFill>
                <a:latin typeface="Arial" pitchFamily="34" charset="0"/>
                <a:ea typeface="Arial" pitchFamily="34" charset="-122"/>
                <a:cs typeface="Arial" pitchFamily="34" charset="-120"/>
              </a:rPr>
              <a:t>Compreender que nossas orações devem estar fundamentadas no caráter e nas promessas de Deus revelados nas Escrituras, e não somente nos sentimentos e circunstâncias.</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o"/>
          <p:cNvSpPr txBox="1"/>
          <p:nvPr/>
        </p:nvSpPr>
        <p:spPr>
          <a:xfrm>
            <a:off x="182880" y="274320"/>
            <a:ext cx="8778240" cy="6309360"/>
          </a:xfrm>
          <a:prstGeom prst="rect">
            <a:avLst/>
          </a:prstGeom>
          <a:noFill/>
          <a:ln/>
        </p:spPr>
        <p:txBody>
          <a:bodyPr wrap="square" lIns="63500" tIns="63500" rIns="63500" bIns="63500" rtlCol="0" anchor="t"/>
          <a:lstStyle/>
          <a:p>
            <a:pPr marL="0" indent="0" algn="l">
              <a:buNone/>
            </a:pPr>
            <a:r>
              <a:rPr lang="en-US" sz="2400" b="1" dirty="0">
                <a:solidFill>
                  <a:schemeClr val="accent1"/>
                </a:solidFill>
                <a:latin typeface="Arial" pitchFamily="34" charset="0"/>
                <a:ea typeface="Arial" pitchFamily="34" charset="-122"/>
                <a:cs typeface="Arial" pitchFamily="34" charset="-120"/>
              </a:rPr>
              <a:t>LIVRO DE DANIEL — DANIEL 1 A 12</a:t>
            </a:r>
            <a:endParaRPr lang="en-US" sz="2400" dirty="0"/>
          </a:p>
          <a:p>
            <a:pPr marL="0" indent="0" algn="l">
              <a:buNone/>
            </a:pPr>
            <a:endParaRPr lang="en-US" sz="2400" dirty="0"/>
          </a:p>
          <a:p>
            <a:pPr marL="0" indent="0" algn="l">
              <a:buNone/>
            </a:pPr>
            <a:r>
              <a:rPr lang="en-US" sz="2400" dirty="0">
                <a:solidFill>
                  <a:schemeClr val="accent1"/>
                </a:solidFill>
                <a:latin typeface="Arial" pitchFamily="34" charset="0"/>
                <a:ea typeface="Arial" pitchFamily="34" charset="-122"/>
                <a:cs typeface="Arial" pitchFamily="34" charset="-120"/>
              </a:rPr>
              <a:t>1. A fidelidade de Daniel (Daniel 1)</a:t>
            </a:r>
            <a:endParaRPr lang="en-US" sz="2400" dirty="0"/>
          </a:p>
          <a:p>
            <a:pPr marL="0" indent="0" algn="l">
              <a:buNone/>
            </a:pPr>
            <a:r>
              <a:rPr lang="en-US" sz="2400" dirty="0">
                <a:solidFill>
                  <a:schemeClr val="bg1"/>
                </a:solidFill>
                <a:latin typeface="Arial" pitchFamily="34" charset="0"/>
                <a:ea typeface="Arial" pitchFamily="34" charset="-122"/>
                <a:cs typeface="Arial" pitchFamily="34" charset="-120"/>
              </a:rPr>
              <a:t>Daniel decidiu não se contaminar com as iguarias e o vinho do rei. Deus lhe concedeu conhecimento, inteligência e sabedoria.</a:t>
            </a:r>
            <a:endParaRPr lang="en-US" sz="2400" dirty="0"/>
          </a:p>
          <a:p>
            <a:pPr marL="0" indent="0" algn="l">
              <a:buNone/>
            </a:pPr>
            <a:endParaRPr lang="en-US" sz="2400" dirty="0"/>
          </a:p>
          <a:p>
            <a:pPr marL="0" indent="0" algn="l">
              <a:buNone/>
            </a:pPr>
            <a:r>
              <a:rPr lang="en-US" sz="2400" dirty="0">
                <a:solidFill>
                  <a:schemeClr val="accent1"/>
                </a:solidFill>
                <a:latin typeface="Arial" pitchFamily="34" charset="0"/>
                <a:ea typeface="Arial" pitchFamily="34" charset="-122"/>
                <a:cs typeface="Arial" pitchFamily="34" charset="-120"/>
              </a:rPr>
              <a:t>2. Daniel busca a Deus em oração (Daniel 2)</a:t>
            </a:r>
            <a:endParaRPr lang="en-US" sz="2400" dirty="0"/>
          </a:p>
          <a:p>
            <a:pPr marL="0" indent="0" algn="l">
              <a:buNone/>
            </a:pPr>
            <a:r>
              <a:rPr lang="en-US" sz="2400" dirty="0">
                <a:solidFill>
                  <a:schemeClr val="bg1"/>
                </a:solidFill>
                <a:latin typeface="Arial" pitchFamily="34" charset="0"/>
                <a:ea typeface="Arial" pitchFamily="34" charset="-122"/>
                <a:cs typeface="Arial" pitchFamily="34" charset="-120"/>
              </a:rPr>
              <a:t>Diante do decreto de morte dos sábios, Daniel reuniu seus amigos para pedir misericórdia a Deus. O Senhor revelou o sonho de Nabucodonosor e sua interpretação.</a:t>
            </a:r>
            <a:endParaRPr lang="en-US" sz="2400" dirty="0"/>
          </a:p>
          <a:p>
            <a:pPr marL="0" indent="0" algn="l">
              <a:buNone/>
            </a:pPr>
            <a:endParaRPr lang="en-US" sz="2400" dirty="0"/>
          </a:p>
          <a:p>
            <a:pPr marL="0" indent="0" algn="l">
              <a:buNone/>
            </a:pPr>
            <a:r>
              <a:rPr lang="en-US" sz="2400" dirty="0">
                <a:solidFill>
                  <a:schemeClr val="accent1"/>
                </a:solidFill>
                <a:latin typeface="Arial" pitchFamily="34" charset="0"/>
                <a:ea typeface="Arial" pitchFamily="34" charset="-122"/>
                <a:cs typeface="Arial" pitchFamily="34" charset="-120"/>
              </a:rPr>
              <a:t>3. A fidelidade dos amigos de Daniel (Daniel 3)</a:t>
            </a:r>
            <a:endParaRPr lang="en-US" sz="2400" dirty="0"/>
          </a:p>
          <a:p>
            <a:pPr marL="0" indent="0" algn="l">
              <a:buNone/>
            </a:pPr>
            <a:r>
              <a:rPr lang="en-US" sz="2400" dirty="0">
                <a:solidFill>
                  <a:schemeClr val="bg1"/>
                </a:solidFill>
                <a:latin typeface="Arial" pitchFamily="34" charset="0"/>
                <a:ea typeface="Arial" pitchFamily="34" charset="-122"/>
                <a:cs typeface="Arial" pitchFamily="34" charset="-120"/>
              </a:rPr>
              <a:t>Hananias, Misael e Azarias recusaram-se a adorar a estátua de ouro e foram lançados na fornalha. Deus os livrou.</a:t>
            </a:r>
            <a:endParaRPr 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o"/>
          <p:cNvSpPr txBox="1"/>
          <p:nvPr/>
        </p:nvSpPr>
        <p:spPr>
          <a:xfrm>
            <a:off x="182880" y="274320"/>
            <a:ext cx="8778240" cy="6309360"/>
          </a:xfrm>
          <a:prstGeom prst="rect">
            <a:avLst/>
          </a:prstGeom>
          <a:noFill/>
          <a:ln/>
        </p:spPr>
        <p:txBody>
          <a:bodyPr wrap="square" lIns="63500" tIns="63500" rIns="63500" bIns="63500" rtlCol="0" anchor="t"/>
          <a:lstStyle/>
          <a:p>
            <a:pPr marL="0" indent="0" algn="l">
              <a:buNone/>
            </a:pPr>
            <a:r>
              <a:rPr lang="en-US" sz="2400" dirty="0">
                <a:solidFill>
                  <a:schemeClr val="accent1"/>
                </a:solidFill>
                <a:latin typeface="Arial" pitchFamily="34" charset="0"/>
                <a:ea typeface="Arial" pitchFamily="34" charset="-122"/>
                <a:cs typeface="Arial" pitchFamily="34" charset="-120"/>
              </a:rPr>
              <a:t>4. O orgulho de Nabucodonosor (Daniel 4)</a:t>
            </a:r>
            <a:endParaRPr lang="en-US" sz="2400" dirty="0"/>
          </a:p>
          <a:p>
            <a:pPr marL="0" indent="0" algn="l">
              <a:buNone/>
            </a:pPr>
            <a:r>
              <a:rPr lang="en-US" sz="2400" dirty="0">
                <a:solidFill>
                  <a:schemeClr val="bg1"/>
                </a:solidFill>
                <a:latin typeface="Arial" pitchFamily="34" charset="0"/>
                <a:ea typeface="Arial" pitchFamily="34" charset="-122"/>
                <a:cs typeface="Arial" pitchFamily="34" charset="-120"/>
              </a:rPr>
              <a:t>O rei foi humilhado até reconhecer que o Altíssimo governa sobre os reinos dos homens.</a:t>
            </a:r>
            <a:endParaRPr lang="en-US" sz="2400" dirty="0"/>
          </a:p>
          <a:p>
            <a:pPr marL="0" indent="0" algn="l">
              <a:buNone/>
            </a:pPr>
            <a:endParaRPr lang="en-US" sz="2400" dirty="0"/>
          </a:p>
          <a:p>
            <a:pPr marL="0" indent="0" algn="l">
              <a:buNone/>
            </a:pPr>
            <a:r>
              <a:rPr lang="en-US" sz="2400" dirty="0">
                <a:solidFill>
                  <a:schemeClr val="accent1"/>
                </a:solidFill>
                <a:latin typeface="Arial" pitchFamily="34" charset="0"/>
                <a:ea typeface="Arial" pitchFamily="34" charset="-122"/>
                <a:cs typeface="Arial" pitchFamily="34" charset="-120"/>
              </a:rPr>
              <a:t>5. A escrita na parede (Daniel 5)</a:t>
            </a:r>
            <a:endParaRPr lang="en-US" sz="2400" dirty="0"/>
          </a:p>
          <a:p>
            <a:pPr marL="0" indent="0" algn="l">
              <a:buNone/>
            </a:pPr>
            <a:r>
              <a:rPr lang="en-US" sz="2400" dirty="0">
                <a:solidFill>
                  <a:schemeClr val="bg1"/>
                </a:solidFill>
                <a:latin typeface="Arial" pitchFamily="34" charset="0"/>
                <a:ea typeface="Arial" pitchFamily="34" charset="-122"/>
                <a:cs typeface="Arial" pitchFamily="34" charset="-120"/>
              </a:rPr>
              <a:t>Daniel interpretou a mensagem de juízo contra Belsazar. Naquela mesma noite, o rei morreu e seu reino foi conquistado.</a:t>
            </a:r>
            <a:endParaRPr lang="en-US" sz="2400" dirty="0"/>
          </a:p>
          <a:p>
            <a:pPr marL="0" indent="0" algn="l">
              <a:buNone/>
            </a:pPr>
            <a:endParaRPr lang="en-US" sz="2400" dirty="0"/>
          </a:p>
          <a:p>
            <a:pPr marL="0" indent="0" algn="l">
              <a:buNone/>
            </a:pPr>
            <a:r>
              <a:rPr lang="en-US" sz="2400" dirty="0">
                <a:solidFill>
                  <a:schemeClr val="accent1"/>
                </a:solidFill>
                <a:latin typeface="Arial" pitchFamily="34" charset="0"/>
                <a:ea typeface="Arial" pitchFamily="34" charset="-122"/>
                <a:cs typeface="Arial" pitchFamily="34" charset="-120"/>
              </a:rPr>
              <a:t>6. Daniel permanece firme na oração (Daniel 6)</a:t>
            </a:r>
            <a:endParaRPr lang="en-US" sz="2400" dirty="0"/>
          </a:p>
          <a:p>
            <a:pPr marL="0" indent="0" algn="l">
              <a:buNone/>
            </a:pPr>
            <a:r>
              <a:rPr lang="en-US" sz="2400" dirty="0">
                <a:solidFill>
                  <a:schemeClr val="bg1"/>
                </a:solidFill>
                <a:latin typeface="Arial" pitchFamily="34" charset="0"/>
                <a:ea typeface="Arial" pitchFamily="34" charset="-122"/>
                <a:cs typeface="Arial" pitchFamily="34" charset="-120"/>
              </a:rPr>
              <a:t>Mesmo diante de um decreto que proibia orações, Daniel continuou </a:t>
            </a:r>
            <a:r>
              <a:rPr lang="en-US" sz="2400" b="1" u="sng" dirty="0">
                <a:solidFill>
                  <a:schemeClr val="bg1"/>
                </a:solidFill>
                <a:latin typeface="Arial" pitchFamily="34" charset="0"/>
                <a:ea typeface="Arial" pitchFamily="34" charset="-122"/>
                <a:cs typeface="Arial" pitchFamily="34" charset="-120"/>
              </a:rPr>
              <a:t>orando três vezes</a:t>
            </a:r>
            <a:r>
              <a:rPr lang="en-US" sz="2400" dirty="0">
                <a:solidFill>
                  <a:schemeClr val="bg1"/>
                </a:solidFill>
                <a:latin typeface="Arial" pitchFamily="34" charset="0"/>
                <a:ea typeface="Arial" pitchFamily="34" charset="-122"/>
                <a:cs typeface="Arial" pitchFamily="34" charset="-120"/>
              </a:rPr>
              <a:t> ao dia, como costumava fazer. Deus o protegeu na cova dos leões.</a:t>
            </a:r>
            <a:endParaRPr 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o"/>
          <p:cNvSpPr txBox="1"/>
          <p:nvPr/>
        </p:nvSpPr>
        <p:spPr>
          <a:xfrm>
            <a:off x="182880" y="274320"/>
            <a:ext cx="8778240" cy="6309360"/>
          </a:xfrm>
          <a:prstGeom prst="rect">
            <a:avLst/>
          </a:prstGeom>
          <a:noFill/>
          <a:ln/>
        </p:spPr>
        <p:txBody>
          <a:bodyPr wrap="square" lIns="63500" tIns="63500" rIns="63500" bIns="63500" rtlCol="0" anchor="t"/>
          <a:lstStyle/>
          <a:p>
            <a:pPr marL="0" indent="0" algn="l">
              <a:buNone/>
            </a:pPr>
            <a:r>
              <a:rPr lang="en-US" sz="2400" dirty="0">
                <a:solidFill>
                  <a:schemeClr val="accent1"/>
                </a:solidFill>
                <a:latin typeface="Arial" pitchFamily="34" charset="0"/>
                <a:ea typeface="Arial" pitchFamily="34" charset="-122"/>
                <a:cs typeface="Arial" pitchFamily="34" charset="-120"/>
              </a:rPr>
              <a:t>7. A visão dos quatro animais (Daniel 7)</a:t>
            </a:r>
            <a:endParaRPr lang="en-US" sz="2400" dirty="0"/>
          </a:p>
          <a:p>
            <a:pPr marL="0" indent="0" algn="l">
              <a:buNone/>
            </a:pPr>
            <a:r>
              <a:rPr lang="en-US" sz="2400" dirty="0">
                <a:solidFill>
                  <a:schemeClr val="bg1"/>
                </a:solidFill>
                <a:latin typeface="Arial" pitchFamily="34" charset="0"/>
                <a:ea typeface="Arial" pitchFamily="34" charset="-122"/>
                <a:cs typeface="Arial" pitchFamily="34" charset="-120"/>
              </a:rPr>
              <a:t>Daniel recebeu uma visão sobre reinos futuros e o domínio eterno de Deus.</a:t>
            </a:r>
            <a:endParaRPr lang="en-US" sz="2400" dirty="0"/>
          </a:p>
          <a:p>
            <a:pPr marL="0" indent="0" algn="l">
              <a:buNone/>
            </a:pPr>
            <a:endParaRPr lang="en-US" sz="2400" dirty="0"/>
          </a:p>
          <a:p>
            <a:pPr marL="0" indent="0" algn="l">
              <a:buNone/>
            </a:pPr>
            <a:r>
              <a:rPr lang="en-US" sz="2400" dirty="0">
                <a:solidFill>
                  <a:schemeClr val="accent1"/>
                </a:solidFill>
                <a:latin typeface="Arial" pitchFamily="34" charset="0"/>
                <a:ea typeface="Arial" pitchFamily="34" charset="-122"/>
                <a:cs typeface="Arial" pitchFamily="34" charset="-120"/>
              </a:rPr>
              <a:t>8. A visão do carneiro e do bode (Daniel 8)</a:t>
            </a:r>
            <a:endParaRPr lang="en-US" sz="2400" dirty="0"/>
          </a:p>
          <a:p>
            <a:pPr marL="0" indent="0" algn="l">
              <a:buNone/>
            </a:pPr>
            <a:r>
              <a:rPr lang="en-US" sz="2400" dirty="0">
                <a:solidFill>
                  <a:schemeClr val="bg1"/>
                </a:solidFill>
                <a:latin typeface="Arial" pitchFamily="34" charset="0"/>
                <a:ea typeface="Arial" pitchFamily="34" charset="-122"/>
                <a:cs typeface="Arial" pitchFamily="34" charset="-120"/>
              </a:rPr>
              <a:t>Daniel recebeu revelações sobre conflitos e acontecimentos futuros.</a:t>
            </a:r>
            <a:endParaRPr lang="en-US" sz="2400" dirty="0"/>
          </a:p>
          <a:p>
            <a:pPr marL="0" indent="0" algn="l">
              <a:buNone/>
            </a:pPr>
            <a:endParaRPr lang="en-US" sz="2400" dirty="0"/>
          </a:p>
          <a:p>
            <a:pPr marL="0" indent="0" algn="l">
              <a:buNone/>
            </a:pPr>
            <a:r>
              <a:rPr lang="en-US" sz="2400" dirty="0">
                <a:solidFill>
                  <a:schemeClr val="accent1"/>
                </a:solidFill>
                <a:latin typeface="Arial" pitchFamily="34" charset="0"/>
                <a:ea typeface="Arial" pitchFamily="34" charset="-122"/>
                <a:cs typeface="Arial" pitchFamily="34" charset="-120"/>
              </a:rPr>
              <a:t>9. Daniel ora e confessa os pecados do povo (Daniel 9)</a:t>
            </a:r>
            <a:endParaRPr lang="en-US" sz="2400" dirty="0"/>
          </a:p>
          <a:p>
            <a:pPr marL="0" indent="0" algn="l">
              <a:buNone/>
            </a:pPr>
            <a:r>
              <a:rPr lang="en-US" sz="2400" dirty="0">
                <a:solidFill>
                  <a:schemeClr val="bg1"/>
                </a:solidFill>
                <a:latin typeface="Arial" pitchFamily="34" charset="0"/>
                <a:ea typeface="Arial" pitchFamily="34" charset="-122"/>
                <a:cs typeface="Arial" pitchFamily="34" charset="-120"/>
              </a:rPr>
              <a:t>Ao compreender as profecias de Jeremias, Daniel buscou a Deus em oração, jejum e confissão, suplicando misericórdia para Jerusalém e seu povo.</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o"/>
          <p:cNvSpPr txBox="1"/>
          <p:nvPr/>
        </p:nvSpPr>
        <p:spPr>
          <a:xfrm>
            <a:off x="182880" y="274320"/>
            <a:ext cx="8778240" cy="6309360"/>
          </a:xfrm>
          <a:prstGeom prst="rect">
            <a:avLst/>
          </a:prstGeom>
          <a:noFill/>
          <a:ln/>
        </p:spPr>
        <p:txBody>
          <a:bodyPr wrap="square" lIns="63500" tIns="63500" rIns="63500" bIns="63500" rtlCol="0" anchor="t"/>
          <a:lstStyle/>
          <a:p>
            <a:pPr marL="0" indent="0" algn="l">
              <a:buNone/>
            </a:pPr>
            <a:r>
              <a:rPr lang="en-US" sz="2400" dirty="0">
                <a:solidFill>
                  <a:schemeClr val="accent1"/>
                </a:solidFill>
                <a:latin typeface="Arial" pitchFamily="34" charset="0"/>
                <a:ea typeface="Arial" pitchFamily="34" charset="-122"/>
                <a:cs typeface="Arial" pitchFamily="34" charset="-120"/>
              </a:rPr>
              <a:t>10. Daniel busca entendimento (Daniel 10)</a:t>
            </a:r>
            <a:endParaRPr lang="en-US" sz="2400" dirty="0"/>
          </a:p>
          <a:p>
            <a:pPr marL="0" indent="0" algn="l">
              <a:buNone/>
            </a:pPr>
            <a:r>
              <a:rPr lang="en-US" sz="2400" dirty="0">
                <a:solidFill>
                  <a:schemeClr val="bg1"/>
                </a:solidFill>
                <a:latin typeface="Arial" pitchFamily="34" charset="0"/>
                <a:ea typeface="Arial" pitchFamily="34" charset="-122"/>
                <a:cs typeface="Arial" pitchFamily="34" charset="-120"/>
              </a:rPr>
              <a:t>Daniel passou três semanas em lamento, abstinência e busca de entendimento diante de Deus. Recebeu uma revelação por meio de um mensageiro celestial.</a:t>
            </a:r>
            <a:endParaRPr lang="en-US" sz="2400" dirty="0"/>
          </a:p>
          <a:p>
            <a:pPr marL="0" indent="0" algn="l">
              <a:buNone/>
            </a:pPr>
            <a:endParaRPr lang="en-US" sz="2400" dirty="0"/>
          </a:p>
          <a:p>
            <a:pPr marL="0" indent="0" algn="l">
              <a:buNone/>
            </a:pPr>
            <a:r>
              <a:rPr lang="en-US" sz="2400" dirty="0">
                <a:solidFill>
                  <a:schemeClr val="accent1"/>
                </a:solidFill>
                <a:latin typeface="Arial" pitchFamily="34" charset="0"/>
                <a:ea typeface="Arial" pitchFamily="34" charset="-122"/>
                <a:cs typeface="Arial" pitchFamily="34" charset="-120"/>
              </a:rPr>
              <a:t>11. Revelações sobre conflitos futuros (Daniel 11)</a:t>
            </a:r>
            <a:endParaRPr lang="en-US" sz="2400" dirty="0"/>
          </a:p>
          <a:p>
            <a:pPr marL="0" indent="0" algn="l">
              <a:buNone/>
            </a:pPr>
            <a:r>
              <a:rPr lang="en-US" sz="2400" dirty="0">
                <a:solidFill>
                  <a:schemeClr val="bg1"/>
                </a:solidFill>
                <a:latin typeface="Arial" pitchFamily="34" charset="0"/>
                <a:ea typeface="Arial" pitchFamily="34" charset="-122"/>
                <a:cs typeface="Arial" pitchFamily="34" charset="-120"/>
              </a:rPr>
              <a:t>Daniel recebeu uma revelação detalhada sobre conflitos entre reinos e acontecimentos futuros.</a:t>
            </a:r>
            <a:endParaRPr lang="en-US" sz="2400" dirty="0"/>
          </a:p>
          <a:p>
            <a:pPr marL="0" indent="0" algn="l">
              <a:buNone/>
            </a:pPr>
            <a:endParaRPr lang="en-US" sz="2400" dirty="0"/>
          </a:p>
          <a:p>
            <a:pPr marL="0" indent="0" algn="l">
              <a:buNone/>
            </a:pPr>
            <a:r>
              <a:rPr lang="en-US" sz="2400" dirty="0">
                <a:solidFill>
                  <a:schemeClr val="accent1"/>
                </a:solidFill>
                <a:latin typeface="Arial" pitchFamily="34" charset="0"/>
                <a:ea typeface="Arial" pitchFamily="34" charset="-122"/>
                <a:cs typeface="Arial" pitchFamily="34" charset="-120"/>
              </a:rPr>
              <a:t>12. A revelação sobre o tempo do fim (Daniel 12)</a:t>
            </a:r>
            <a:endParaRPr lang="en-US" sz="2400" dirty="0"/>
          </a:p>
          <a:p>
            <a:pPr marL="0" indent="0" algn="l">
              <a:buNone/>
            </a:pPr>
            <a:r>
              <a:rPr lang="en-US" sz="2400" dirty="0">
                <a:solidFill>
                  <a:schemeClr val="bg1"/>
                </a:solidFill>
                <a:latin typeface="Arial" pitchFamily="34" charset="0"/>
                <a:ea typeface="Arial" pitchFamily="34" charset="-122"/>
                <a:cs typeface="Arial" pitchFamily="34" charset="-120"/>
              </a:rPr>
              <a:t>Daniel recebeu revelações sobre a tribulação, a ressurreição e o cumprimento dos propósitos de Deus.</a:t>
            </a:r>
            <a:endParaRPr lang="en-US" sz="2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o"/>
          <p:cNvSpPr txBox="1"/>
          <p:nvPr/>
        </p:nvSpPr>
        <p:spPr>
          <a:xfrm>
            <a:off x="457200" y="685800"/>
            <a:ext cx="8229600" cy="5486400"/>
          </a:xfrm>
          <a:prstGeom prst="rect">
            <a:avLst/>
          </a:prstGeom>
          <a:noFill/>
          <a:ln/>
        </p:spPr>
        <p:txBody>
          <a:bodyPr wrap="square" lIns="63500" tIns="63500" rIns="63500" bIns="63500" rtlCol="0" anchor="ctr"/>
          <a:lstStyle/>
          <a:p>
            <a:pPr marL="0" indent="0" algn="l">
              <a:buNone/>
            </a:pPr>
            <a:r>
              <a:rPr lang="en-US" sz="2400" b="1" dirty="0">
                <a:solidFill>
                  <a:schemeClr val="accent1"/>
                </a:solidFill>
                <a:latin typeface="Arial" pitchFamily="34" charset="0"/>
                <a:ea typeface="Arial" pitchFamily="34" charset="-122"/>
                <a:cs typeface="Arial" pitchFamily="34" charset="-120"/>
              </a:rPr>
              <a:t>ENSINAMENTO CENTRAL</a:t>
            </a:r>
            <a:endParaRPr lang="en-US" sz="2400" dirty="0"/>
          </a:p>
          <a:p>
            <a:pPr marL="0" indent="0" algn="l">
              <a:buNone/>
            </a:pPr>
            <a:endParaRPr lang="en-US" sz="2400" dirty="0"/>
          </a:p>
          <a:p>
            <a:pPr marL="0" indent="0" algn="l">
              <a:buNone/>
            </a:pPr>
            <a:r>
              <a:rPr lang="en-US" sz="2400" dirty="0">
                <a:solidFill>
                  <a:schemeClr val="bg1"/>
                </a:solidFill>
                <a:latin typeface="Arial" pitchFamily="34" charset="0"/>
                <a:ea typeface="Arial" pitchFamily="34" charset="-122"/>
                <a:cs typeface="Arial" pitchFamily="34" charset="-120"/>
              </a:rPr>
              <a:t>Daniel nos mostra que a oração deve fazer parte da nossa vida diária. Ele orava diante dos desafios, buscava entendimento na Palavra de Deus e perseverava mesmo quando não compreendia tudo o que o Senhor lhe revelava.</a:t>
            </a:r>
            <a:endParaRPr lang="en-US"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o"/>
          <p:cNvSpPr txBox="1"/>
          <p:nvPr/>
        </p:nvSpPr>
        <p:spPr>
          <a:xfrm>
            <a:off x="182880" y="274320"/>
            <a:ext cx="8778240" cy="6309360"/>
          </a:xfrm>
          <a:prstGeom prst="rect">
            <a:avLst/>
          </a:prstGeom>
          <a:noFill/>
          <a:ln/>
        </p:spPr>
        <p:txBody>
          <a:bodyPr wrap="square" lIns="63500" tIns="63500" rIns="63500" bIns="63500" rtlCol="0" anchor="t"/>
          <a:lstStyle/>
          <a:p>
            <a:pPr marL="0" indent="0" algn="l">
              <a:buNone/>
            </a:pPr>
            <a:r>
              <a:rPr lang="en-US" sz="2400" b="1" dirty="0">
                <a:solidFill>
                  <a:schemeClr val="accent1"/>
                </a:solidFill>
                <a:latin typeface="Arial" pitchFamily="34" charset="0"/>
                <a:ea typeface="Arial" pitchFamily="34" charset="-122"/>
                <a:cs typeface="Arial" pitchFamily="34" charset="-120"/>
              </a:rPr>
              <a:t>CURIOSIDADE: ORAR 3 VEZES AO DIA</a:t>
            </a:r>
            <a:endParaRPr lang="en-US" sz="2400" dirty="0"/>
          </a:p>
          <a:p>
            <a:pPr marL="0" indent="0" algn="l">
              <a:buNone/>
            </a:pPr>
            <a:endParaRPr lang="en-US" sz="2400" dirty="0"/>
          </a:p>
          <a:p>
            <a:pPr marL="0" indent="0" algn="l">
              <a:buNone/>
            </a:pPr>
            <a:r>
              <a:rPr lang="en-US" sz="2400" dirty="0">
                <a:solidFill>
                  <a:schemeClr val="bg1"/>
                </a:solidFill>
                <a:latin typeface="Arial" pitchFamily="34" charset="0"/>
                <a:ea typeface="Arial" pitchFamily="34" charset="-122"/>
                <a:cs typeface="Arial" pitchFamily="34" charset="-120"/>
              </a:rPr>
              <a:t>O costume de orar três vezes ao dia tem raízes na tradição judaica e está relacionado, em parte, aos horários dos sacrifícios oferecidos no templo.</a:t>
            </a:r>
            <a:endParaRPr lang="en-US" sz="2400" dirty="0"/>
          </a:p>
          <a:p>
            <a:pPr marL="0" indent="0" algn="l">
              <a:buNone/>
            </a:pPr>
            <a:endParaRPr lang="en-US" sz="2400" dirty="0"/>
          </a:p>
          <a:p>
            <a:pPr marL="0" indent="0" algn="l">
              <a:buNone/>
            </a:pPr>
            <a:r>
              <a:rPr lang="en-US" sz="2400" dirty="0">
                <a:solidFill>
                  <a:schemeClr val="bg1"/>
                </a:solidFill>
                <a:latin typeface="Arial" pitchFamily="34" charset="0"/>
                <a:ea typeface="Arial" pitchFamily="34" charset="-122"/>
                <a:cs typeface="Arial" pitchFamily="34" charset="-120"/>
              </a:rPr>
              <a:t>→  Manhã: os judeus ofereciam o sacrifício da manhã.</a:t>
            </a:r>
            <a:endParaRPr lang="en-US" sz="2400" dirty="0"/>
          </a:p>
          <a:p>
            <a:pPr marL="0" indent="0" algn="l">
              <a:buNone/>
            </a:pPr>
            <a:r>
              <a:rPr lang="en-US" sz="2400" dirty="0">
                <a:solidFill>
                  <a:schemeClr val="bg1"/>
                </a:solidFill>
                <a:latin typeface="Arial" pitchFamily="34" charset="0"/>
                <a:ea typeface="Arial" pitchFamily="34" charset="-122"/>
                <a:cs typeface="Arial" pitchFamily="34" charset="-120"/>
              </a:rPr>
              <a:t>→  Tarde: havia o sacrifício da tarde.</a:t>
            </a:r>
            <a:endParaRPr lang="en-US" sz="2400" dirty="0"/>
          </a:p>
          <a:p>
            <a:pPr marL="0" indent="0" algn="l">
              <a:buNone/>
            </a:pPr>
            <a:r>
              <a:rPr lang="en-US" sz="2400" dirty="0">
                <a:solidFill>
                  <a:schemeClr val="bg1"/>
                </a:solidFill>
                <a:latin typeface="Arial" pitchFamily="34" charset="0"/>
                <a:ea typeface="Arial" pitchFamily="34" charset="-122"/>
                <a:cs typeface="Arial" pitchFamily="34" charset="-120"/>
              </a:rPr>
              <a:t>→  Noite: a tradição judaica consolidou uma terceira oração diária.</a:t>
            </a:r>
            <a:endParaRPr lang="en-US" sz="2400" dirty="0"/>
          </a:p>
          <a:p>
            <a:pPr marL="0" indent="0" algn="l">
              <a:buNone/>
            </a:pPr>
            <a:endParaRPr lang="en-US" sz="2400" dirty="0"/>
          </a:p>
          <a:p>
            <a:pPr marL="0" indent="0" algn="l">
              <a:buNone/>
            </a:pPr>
            <a:r>
              <a:rPr lang="en-US" sz="2400" dirty="0">
                <a:solidFill>
                  <a:schemeClr val="bg1"/>
                </a:solidFill>
                <a:latin typeface="Arial" pitchFamily="34" charset="0"/>
                <a:ea typeface="Arial" pitchFamily="34" charset="-122"/>
                <a:cs typeface="Arial" pitchFamily="34" charset="-120"/>
              </a:rPr>
              <a:t>A tradição rabínica associou essas três orações aos patriarcas Abraão, Isaque e Jacó. Entretanto, essa associação faz parte da tradição judaica posterior, e não de uma ordem explícita da Lei de Moisés.</a:t>
            </a: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o"/>
          <p:cNvSpPr txBox="1"/>
          <p:nvPr/>
        </p:nvSpPr>
        <p:spPr>
          <a:xfrm>
            <a:off x="182880" y="274320"/>
            <a:ext cx="8778240" cy="6309360"/>
          </a:xfrm>
          <a:prstGeom prst="rect">
            <a:avLst/>
          </a:prstGeom>
          <a:noFill/>
          <a:ln/>
        </p:spPr>
        <p:txBody>
          <a:bodyPr wrap="square" lIns="63500" tIns="63500" rIns="63500" bIns="63500" rtlCol="0" anchor="t"/>
          <a:lstStyle/>
          <a:p>
            <a:pPr marL="0" indent="0" algn="l">
              <a:buNone/>
            </a:pPr>
            <a:r>
              <a:rPr lang="en-US" sz="2400" b="1" dirty="0">
                <a:solidFill>
                  <a:schemeClr val="accent1"/>
                </a:solidFill>
                <a:latin typeface="Arial" pitchFamily="34" charset="0"/>
                <a:ea typeface="Arial" pitchFamily="34" charset="-122"/>
                <a:cs typeface="Arial" pitchFamily="34" charset="-120"/>
              </a:rPr>
              <a:t>E DANIEL?</a:t>
            </a:r>
            <a:endParaRPr lang="en-US" sz="2400" dirty="0"/>
          </a:p>
          <a:p>
            <a:pPr marL="0" indent="0" algn="l">
              <a:buNone/>
            </a:pPr>
            <a:endParaRPr lang="en-US" sz="2400" dirty="0"/>
          </a:p>
          <a:p>
            <a:pPr marL="0" indent="0" algn="l">
              <a:buNone/>
            </a:pPr>
            <a:r>
              <a:rPr lang="en-US" sz="2400" dirty="0">
                <a:solidFill>
                  <a:schemeClr val="bg1"/>
                </a:solidFill>
                <a:latin typeface="Arial" pitchFamily="34" charset="0"/>
                <a:ea typeface="Arial" pitchFamily="34" charset="-122"/>
                <a:cs typeface="Arial" pitchFamily="34" charset="-120"/>
              </a:rPr>
              <a:t>Em Daniel 6:10, ele orava três vezes ao dia, como já costumava fazer. A Bíblia não explica a origem pessoal desse hábito, mas mostra que ele mantinha sua comunhão com Deus mesmo no exílio e diante da ameaça de morte.</a:t>
            </a:r>
            <a:endParaRPr lang="en-US" sz="2400" dirty="0"/>
          </a:p>
          <a:p>
            <a:pPr marL="0" indent="0" algn="l">
              <a:buNone/>
            </a:pPr>
            <a:endParaRPr lang="en-US" sz="2400" dirty="0"/>
          </a:p>
          <a:p>
            <a:pPr marL="0" indent="0" algn="l">
              <a:buNone/>
            </a:pPr>
            <a:r>
              <a:rPr lang="en-US" sz="2400" dirty="0">
                <a:solidFill>
                  <a:schemeClr val="bg1"/>
                </a:solidFill>
                <a:latin typeface="Arial" pitchFamily="34" charset="0"/>
                <a:ea typeface="Arial" pitchFamily="34" charset="-122"/>
                <a:cs typeface="Arial" pitchFamily="34" charset="-120"/>
              </a:rPr>
              <a:t>É importante distinguir: os horários de oração se desenvolveram na tradição judaica, mas a Bíblia não ordena que todos os cristãos orem exatamente três vezes ao dia. O exemplo de Daniel destaca a constância na oração, não uma quantidade obrigatória de orações.</a:t>
            </a:r>
            <a:endParaRPr lang="en-US" sz="2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1371600"/>
            <a:ext cx="8229600" cy="4114800"/>
          </a:xfrm>
          <a:prstGeom prst="rect">
            <a:avLst/>
          </a:prstGeom>
          <a:noFill/>
          <a:ln/>
        </p:spPr>
        <p:txBody>
          <a:bodyPr wrap="square" rtlCol="0" anchor="ctr"/>
          <a:lstStyle/>
          <a:p>
            <a:pPr marL="0" indent="0" algn="ctr">
              <a:buNone/>
            </a:pPr>
            <a:r>
              <a:rPr lang="pt-BR" sz="4400" b="1" dirty="0">
                <a:solidFill>
                  <a:schemeClr val="accent1"/>
                </a:solidFill>
                <a:latin typeface="Arial" pitchFamily="34" charset="0"/>
                <a:ea typeface="Arial" pitchFamily="34" charset="-122"/>
                <a:cs typeface="Arial" pitchFamily="34" charset="-120"/>
              </a:rPr>
              <a:t>I- </a:t>
            </a:r>
            <a:r>
              <a:rPr lang="en-US" sz="4400" b="1" dirty="0" err="1">
                <a:solidFill>
                  <a:schemeClr val="accent1"/>
                </a:solidFill>
                <a:latin typeface="Arial" pitchFamily="34" charset="0"/>
                <a:ea typeface="Arial" pitchFamily="34" charset="-122"/>
                <a:cs typeface="Arial" pitchFamily="34" charset="-120"/>
              </a:rPr>
              <a:t>INTRODUÇÃO</a:t>
            </a:r>
            <a:r>
              <a:rPr lang="en-US" sz="4400" b="1" dirty="0">
                <a:solidFill>
                  <a:schemeClr val="accent1"/>
                </a:solidFill>
                <a:latin typeface="Arial" pitchFamily="34" charset="0"/>
                <a:ea typeface="Arial" pitchFamily="34" charset="-122"/>
                <a:cs typeface="Arial" pitchFamily="34" charset="-120"/>
              </a:rPr>
              <a:t>: A ORAÇÃO QUE NASCE DA PALAVRA</a:t>
            </a:r>
            <a:endParaRPr lang="en-US" sz="4400" dirty="0"/>
          </a:p>
          <a:p>
            <a:pPr marL="0" indent="0" algn="ctr">
              <a:buNone/>
            </a:pPr>
            <a:endParaRPr lang="en-US" sz="4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o"/>
          <p:cNvSpPr txBox="1"/>
          <p:nvPr/>
        </p:nvSpPr>
        <p:spPr>
          <a:xfrm>
            <a:off x="182880" y="274320"/>
            <a:ext cx="8778240" cy="6309360"/>
          </a:xfrm>
          <a:prstGeom prst="rect">
            <a:avLst/>
          </a:prstGeom>
          <a:noFill/>
          <a:ln/>
        </p:spPr>
        <p:txBody>
          <a:bodyPr wrap="square" lIns="63500" tIns="63500" rIns="63500" bIns="63500" rtlCol="0" anchor="t"/>
          <a:lstStyle/>
          <a:p>
            <a:pPr marL="0" indent="0" algn="l">
              <a:buNone/>
            </a:pPr>
            <a:r>
              <a:rPr lang="en-US" sz="2400" b="1" dirty="0">
                <a:solidFill>
                  <a:schemeClr val="accent1"/>
                </a:solidFill>
                <a:latin typeface="Arial" pitchFamily="34" charset="0"/>
                <a:ea typeface="Arial" pitchFamily="34" charset="-122"/>
                <a:cs typeface="Arial" pitchFamily="34" charset="-120"/>
              </a:rPr>
              <a:t>VERSÍCULO BASE</a:t>
            </a:r>
            <a:endParaRPr lang="en-US" sz="2400" dirty="0"/>
          </a:p>
          <a:p>
            <a:pPr marL="0" indent="0" algn="l">
              <a:buNone/>
            </a:pPr>
            <a:endParaRPr lang="en-US" sz="2400" dirty="0"/>
          </a:p>
          <a:p>
            <a:pPr marL="0" indent="0" algn="l">
              <a:buNone/>
            </a:pPr>
            <a:r>
              <a:rPr lang="en-US" sz="2400" dirty="0">
                <a:solidFill>
                  <a:schemeClr val="bg1"/>
                </a:solidFill>
                <a:latin typeface="Arial" pitchFamily="34" charset="0"/>
                <a:ea typeface="Arial" pitchFamily="34" charset="-122"/>
                <a:cs typeface="Arial" pitchFamily="34" charset="-120"/>
              </a:rPr>
              <a:t> D</a:t>
            </a:r>
            <a:r>
              <a:rPr lang="pt-BR" sz="2400" dirty="0">
                <a:solidFill>
                  <a:schemeClr val="bg1"/>
                </a:solidFill>
                <a:latin typeface="Arial" pitchFamily="34" charset="0"/>
                <a:ea typeface="Arial" pitchFamily="34" charset="-122"/>
                <a:cs typeface="Arial" pitchFamily="34" charset="-120"/>
              </a:rPr>
              <a:t>n.</a:t>
            </a:r>
            <a:r>
              <a:rPr lang="en-US" sz="2400" dirty="0">
                <a:solidFill>
                  <a:schemeClr val="bg1"/>
                </a:solidFill>
                <a:latin typeface="Arial" pitchFamily="34" charset="0"/>
                <a:ea typeface="Arial" pitchFamily="34" charset="-122"/>
                <a:cs typeface="Arial" pitchFamily="34" charset="-120"/>
              </a:rPr>
              <a:t>9:2</a:t>
            </a:r>
            <a:r>
              <a:rPr lang="pt-BR" sz="2400" dirty="0">
                <a:solidFill>
                  <a:schemeClr val="bg1"/>
                </a:solidFill>
                <a:latin typeface="Arial" pitchFamily="34" charset="0"/>
                <a:ea typeface="Arial" pitchFamily="34" charset="-122"/>
                <a:cs typeface="Arial" pitchFamily="34" charset="-120"/>
              </a:rPr>
              <a:t>-3</a:t>
            </a:r>
            <a:r>
              <a:rPr lang="en-US" sz="2400" dirty="0">
                <a:solidFill>
                  <a:schemeClr val="bg1"/>
                </a:solidFill>
                <a:latin typeface="Arial" pitchFamily="34" charset="0"/>
                <a:ea typeface="Arial" pitchFamily="34" charset="-122"/>
                <a:cs typeface="Arial" pitchFamily="34" charset="-120"/>
              </a:rPr>
              <a:t>. </a:t>
            </a:r>
            <a:r>
              <a:rPr lang="pt-BR" sz="2400" dirty="0">
                <a:solidFill>
                  <a:schemeClr val="bg1"/>
                </a:solidFill>
                <a:latin typeface="Arial" pitchFamily="34" charset="0"/>
                <a:ea typeface="Arial" pitchFamily="34" charset="-122"/>
                <a:cs typeface="Arial" pitchFamily="34" charset="-120"/>
              </a:rPr>
              <a:t>“…</a:t>
            </a:r>
            <a:r>
              <a:rPr lang="en-US" sz="2400" dirty="0" err="1">
                <a:solidFill>
                  <a:schemeClr val="bg1"/>
                </a:solidFill>
                <a:latin typeface="Arial" pitchFamily="34" charset="0"/>
                <a:ea typeface="Arial" pitchFamily="34" charset="-122"/>
                <a:cs typeface="Arial" pitchFamily="34" charset="-120"/>
              </a:rPr>
              <a:t>que</a:t>
            </a:r>
            <a:r>
              <a:rPr lang="en-US" sz="2400" dirty="0">
                <a:solidFill>
                  <a:schemeClr val="bg1"/>
                </a:solidFill>
                <a:latin typeface="Arial" pitchFamily="34" charset="0"/>
                <a:ea typeface="Arial" pitchFamily="34" charset="-122"/>
                <a:cs typeface="Arial" pitchFamily="34" charset="-120"/>
              </a:rPr>
              <a:t> </a:t>
            </a:r>
            <a:r>
              <a:rPr lang="en-US" sz="2400" dirty="0" err="1">
                <a:solidFill>
                  <a:schemeClr val="bg1"/>
                </a:solidFill>
                <a:latin typeface="Arial" pitchFamily="34" charset="0"/>
                <a:ea typeface="Arial" pitchFamily="34" charset="-122"/>
                <a:cs typeface="Arial" pitchFamily="34" charset="-120"/>
              </a:rPr>
              <a:t>haviam</a:t>
            </a:r>
            <a:r>
              <a:rPr lang="en-US" sz="2400" dirty="0">
                <a:solidFill>
                  <a:schemeClr val="bg1"/>
                </a:solidFill>
                <a:latin typeface="Arial" pitchFamily="34" charset="0"/>
                <a:ea typeface="Arial" pitchFamily="34" charset="-122"/>
                <a:cs typeface="Arial" pitchFamily="34" charset="-120"/>
              </a:rPr>
              <a:t> de </a:t>
            </a:r>
            <a:r>
              <a:rPr lang="en-US" sz="2400" dirty="0" err="1">
                <a:solidFill>
                  <a:schemeClr val="bg1"/>
                </a:solidFill>
                <a:latin typeface="Arial" pitchFamily="34" charset="0"/>
                <a:ea typeface="Arial" pitchFamily="34" charset="-122"/>
                <a:cs typeface="Arial" pitchFamily="34" charset="-120"/>
              </a:rPr>
              <a:t>durar</a:t>
            </a:r>
            <a:r>
              <a:rPr lang="en-US" sz="2400" dirty="0">
                <a:solidFill>
                  <a:schemeClr val="bg1"/>
                </a:solidFill>
                <a:latin typeface="Arial" pitchFamily="34" charset="0"/>
                <a:ea typeface="Arial" pitchFamily="34" charset="-122"/>
                <a:cs typeface="Arial" pitchFamily="34" charset="-120"/>
              </a:rPr>
              <a:t> as </a:t>
            </a:r>
            <a:r>
              <a:rPr lang="en-US" sz="2400" dirty="0" err="1">
                <a:solidFill>
                  <a:schemeClr val="bg1"/>
                </a:solidFill>
                <a:latin typeface="Arial" pitchFamily="34" charset="0"/>
                <a:ea typeface="Arial" pitchFamily="34" charset="-122"/>
                <a:cs typeface="Arial" pitchFamily="34" charset="-120"/>
              </a:rPr>
              <a:t>assolações</a:t>
            </a:r>
            <a:r>
              <a:rPr lang="en-US" sz="2400" dirty="0">
                <a:solidFill>
                  <a:schemeClr val="bg1"/>
                </a:solidFill>
                <a:latin typeface="Arial" pitchFamily="34" charset="0"/>
                <a:ea typeface="Arial" pitchFamily="34" charset="-122"/>
                <a:cs typeface="Arial" pitchFamily="34" charset="-120"/>
              </a:rPr>
              <a:t> de </a:t>
            </a:r>
            <a:r>
              <a:rPr lang="en-US" sz="2400" dirty="0" err="1">
                <a:solidFill>
                  <a:schemeClr val="bg1"/>
                </a:solidFill>
                <a:latin typeface="Arial" pitchFamily="34" charset="0"/>
                <a:ea typeface="Arial" pitchFamily="34" charset="-122"/>
                <a:cs typeface="Arial" pitchFamily="34" charset="-120"/>
              </a:rPr>
              <a:t>Jerusalém</a:t>
            </a:r>
            <a:r>
              <a:rPr lang="en-US" sz="2400" dirty="0">
                <a:solidFill>
                  <a:schemeClr val="bg1"/>
                </a:solidFill>
                <a:latin typeface="Arial" pitchFamily="34" charset="0"/>
                <a:ea typeface="Arial" pitchFamily="34" charset="-122"/>
                <a:cs typeface="Arial" pitchFamily="34" charset="-120"/>
              </a:rPr>
              <a:t>, era de </a:t>
            </a:r>
            <a:r>
              <a:rPr lang="en-US" sz="2400" dirty="0" err="1">
                <a:solidFill>
                  <a:schemeClr val="bg1"/>
                </a:solidFill>
                <a:latin typeface="Arial" pitchFamily="34" charset="0"/>
                <a:ea typeface="Arial" pitchFamily="34" charset="-122"/>
                <a:cs typeface="Arial" pitchFamily="34" charset="-120"/>
              </a:rPr>
              <a:t>setenta</a:t>
            </a:r>
            <a:r>
              <a:rPr lang="en-US" sz="2400" dirty="0">
                <a:solidFill>
                  <a:schemeClr val="bg1"/>
                </a:solidFill>
                <a:latin typeface="Arial" pitchFamily="34" charset="0"/>
                <a:ea typeface="Arial" pitchFamily="34" charset="-122"/>
                <a:cs typeface="Arial" pitchFamily="34" charset="-120"/>
              </a:rPr>
              <a:t> </a:t>
            </a:r>
            <a:r>
              <a:rPr lang="en-US" sz="2400" dirty="0" err="1">
                <a:solidFill>
                  <a:schemeClr val="bg1"/>
                </a:solidFill>
                <a:latin typeface="Arial" pitchFamily="34" charset="0"/>
                <a:ea typeface="Arial" pitchFamily="34" charset="-122"/>
                <a:cs typeface="Arial" pitchFamily="34" charset="-120"/>
              </a:rPr>
              <a:t>anos</a:t>
            </a:r>
            <a:r>
              <a:rPr lang="en-US" sz="2400" dirty="0">
                <a:solidFill>
                  <a:schemeClr val="bg1"/>
                </a:solidFill>
                <a:latin typeface="Arial" pitchFamily="34" charset="0"/>
                <a:ea typeface="Arial" pitchFamily="34" charset="-122"/>
                <a:cs typeface="Arial" pitchFamily="34" charset="-120"/>
              </a:rPr>
              <a:t>. 3. </a:t>
            </a:r>
            <a:r>
              <a:rPr lang="en-US" sz="2400" dirty="0" err="1">
                <a:solidFill>
                  <a:schemeClr val="bg1"/>
                </a:solidFill>
                <a:latin typeface="Arial" pitchFamily="34" charset="0"/>
                <a:ea typeface="Arial" pitchFamily="34" charset="-122"/>
                <a:cs typeface="Arial" pitchFamily="34" charset="-120"/>
              </a:rPr>
              <a:t>Voltei</a:t>
            </a:r>
            <a:r>
              <a:rPr lang="en-US" sz="2400" dirty="0">
                <a:solidFill>
                  <a:schemeClr val="bg1"/>
                </a:solidFill>
                <a:latin typeface="Arial" pitchFamily="34" charset="0"/>
                <a:ea typeface="Arial" pitchFamily="34" charset="-122"/>
                <a:cs typeface="Arial" pitchFamily="34" charset="-120"/>
              </a:rPr>
              <a:t> o </a:t>
            </a:r>
            <a:r>
              <a:rPr lang="en-US" sz="2400" dirty="0" err="1">
                <a:solidFill>
                  <a:schemeClr val="bg1"/>
                </a:solidFill>
                <a:latin typeface="Arial" pitchFamily="34" charset="0"/>
                <a:ea typeface="Arial" pitchFamily="34" charset="-122"/>
                <a:cs typeface="Arial" pitchFamily="34" charset="-120"/>
              </a:rPr>
              <a:t>rosto</a:t>
            </a:r>
            <a:r>
              <a:rPr lang="en-US" sz="2400" dirty="0">
                <a:solidFill>
                  <a:schemeClr val="bg1"/>
                </a:solidFill>
                <a:latin typeface="Arial" pitchFamily="34" charset="0"/>
                <a:ea typeface="Arial" pitchFamily="34" charset="-122"/>
                <a:cs typeface="Arial" pitchFamily="34" charset="-120"/>
              </a:rPr>
              <a:t> </a:t>
            </a:r>
            <a:r>
              <a:rPr lang="en-US" sz="2400" dirty="0" err="1">
                <a:solidFill>
                  <a:schemeClr val="bg1"/>
                </a:solidFill>
                <a:latin typeface="Arial" pitchFamily="34" charset="0"/>
                <a:ea typeface="Arial" pitchFamily="34" charset="-122"/>
                <a:cs typeface="Arial" pitchFamily="34" charset="-120"/>
              </a:rPr>
              <a:t>ao</a:t>
            </a:r>
            <a:r>
              <a:rPr lang="en-US" sz="2400" dirty="0">
                <a:solidFill>
                  <a:schemeClr val="bg1"/>
                </a:solidFill>
                <a:latin typeface="Arial" pitchFamily="34" charset="0"/>
                <a:ea typeface="Arial" pitchFamily="34" charset="-122"/>
                <a:cs typeface="Arial" pitchFamily="34" charset="-120"/>
              </a:rPr>
              <a:t> </a:t>
            </a:r>
            <a:r>
              <a:rPr lang="en-US" sz="2400" dirty="0" err="1">
                <a:solidFill>
                  <a:schemeClr val="bg1"/>
                </a:solidFill>
                <a:latin typeface="Arial" pitchFamily="34" charset="0"/>
                <a:ea typeface="Arial" pitchFamily="34" charset="-122"/>
                <a:cs typeface="Arial" pitchFamily="34" charset="-120"/>
              </a:rPr>
              <a:t>Senhor</a:t>
            </a:r>
            <a:r>
              <a:rPr lang="en-US" sz="2400" dirty="0">
                <a:solidFill>
                  <a:schemeClr val="bg1"/>
                </a:solidFill>
                <a:latin typeface="Arial" pitchFamily="34" charset="0"/>
                <a:ea typeface="Arial" pitchFamily="34" charset="-122"/>
                <a:cs typeface="Arial" pitchFamily="34" charset="-120"/>
              </a:rPr>
              <a:t> Deus, para o </a:t>
            </a:r>
            <a:r>
              <a:rPr lang="en-US" sz="2400" dirty="0" err="1">
                <a:solidFill>
                  <a:schemeClr val="bg1"/>
                </a:solidFill>
                <a:latin typeface="Arial" pitchFamily="34" charset="0"/>
                <a:ea typeface="Arial" pitchFamily="34" charset="-122"/>
                <a:cs typeface="Arial" pitchFamily="34" charset="-120"/>
              </a:rPr>
              <a:t>buscar</a:t>
            </a:r>
            <a:r>
              <a:rPr lang="en-US" sz="2400" dirty="0">
                <a:solidFill>
                  <a:schemeClr val="bg1"/>
                </a:solidFill>
                <a:latin typeface="Arial" pitchFamily="34" charset="0"/>
                <a:ea typeface="Arial" pitchFamily="34" charset="-122"/>
                <a:cs typeface="Arial" pitchFamily="34" charset="-120"/>
              </a:rPr>
              <a:t> com </a:t>
            </a:r>
            <a:r>
              <a:rPr lang="en-US" sz="2400" dirty="0" err="1">
                <a:solidFill>
                  <a:schemeClr val="bg1"/>
                </a:solidFill>
                <a:latin typeface="Arial" pitchFamily="34" charset="0"/>
                <a:ea typeface="Arial" pitchFamily="34" charset="-122"/>
                <a:cs typeface="Arial" pitchFamily="34" charset="-120"/>
              </a:rPr>
              <a:t>oração</a:t>
            </a:r>
            <a:r>
              <a:rPr lang="en-US" sz="2400" dirty="0">
                <a:solidFill>
                  <a:schemeClr val="bg1"/>
                </a:solidFill>
                <a:latin typeface="Arial" pitchFamily="34" charset="0"/>
                <a:ea typeface="Arial" pitchFamily="34" charset="-122"/>
                <a:cs typeface="Arial" pitchFamily="34" charset="-120"/>
              </a:rPr>
              <a:t> e </a:t>
            </a:r>
            <a:r>
              <a:rPr lang="en-US" sz="2400" dirty="0" err="1">
                <a:solidFill>
                  <a:schemeClr val="bg1"/>
                </a:solidFill>
                <a:latin typeface="Arial" pitchFamily="34" charset="0"/>
                <a:ea typeface="Arial" pitchFamily="34" charset="-122"/>
                <a:cs typeface="Arial" pitchFamily="34" charset="-120"/>
              </a:rPr>
              <a:t>súplicas</a:t>
            </a:r>
            <a:r>
              <a:rPr lang="en-US" sz="2400" dirty="0">
                <a:solidFill>
                  <a:schemeClr val="bg1"/>
                </a:solidFill>
                <a:latin typeface="Arial" pitchFamily="34" charset="0"/>
                <a:ea typeface="Arial" pitchFamily="34" charset="-122"/>
                <a:cs typeface="Arial" pitchFamily="34" charset="-120"/>
              </a:rPr>
              <a:t>, com </a:t>
            </a:r>
            <a:r>
              <a:rPr lang="en-US" sz="2400" dirty="0" err="1">
                <a:solidFill>
                  <a:schemeClr val="bg1"/>
                </a:solidFill>
                <a:latin typeface="Arial" pitchFamily="34" charset="0"/>
                <a:ea typeface="Arial" pitchFamily="34" charset="-122"/>
                <a:cs typeface="Arial" pitchFamily="34" charset="-120"/>
              </a:rPr>
              <a:t>jejum</a:t>
            </a:r>
            <a:r>
              <a:rPr lang="en-US" sz="2400" dirty="0">
                <a:solidFill>
                  <a:schemeClr val="bg1"/>
                </a:solidFill>
                <a:latin typeface="Arial" pitchFamily="34" charset="0"/>
                <a:ea typeface="Arial" pitchFamily="34" charset="-122"/>
                <a:cs typeface="Arial" pitchFamily="34" charset="-120"/>
              </a:rPr>
              <a:t>, pano de </a:t>
            </a:r>
            <a:r>
              <a:rPr lang="en-US" sz="2400" dirty="0" err="1">
                <a:solidFill>
                  <a:schemeClr val="bg1"/>
                </a:solidFill>
                <a:latin typeface="Arial" pitchFamily="34" charset="0"/>
                <a:ea typeface="Arial" pitchFamily="34" charset="-122"/>
                <a:cs typeface="Arial" pitchFamily="34" charset="-120"/>
              </a:rPr>
              <a:t>saco</a:t>
            </a:r>
            <a:r>
              <a:rPr lang="en-US" sz="2400" dirty="0">
                <a:solidFill>
                  <a:schemeClr val="bg1"/>
                </a:solidFill>
                <a:latin typeface="Arial" pitchFamily="34" charset="0"/>
                <a:ea typeface="Arial" pitchFamily="34" charset="-122"/>
                <a:cs typeface="Arial" pitchFamily="34" charset="-120"/>
              </a:rPr>
              <a:t> e </a:t>
            </a:r>
            <a:r>
              <a:rPr lang="en-US" sz="2400" dirty="0" err="1">
                <a:solidFill>
                  <a:schemeClr val="bg1"/>
                </a:solidFill>
                <a:latin typeface="Arial" pitchFamily="34" charset="0"/>
                <a:ea typeface="Arial" pitchFamily="34" charset="-122"/>
                <a:cs typeface="Arial" pitchFamily="34" charset="-120"/>
              </a:rPr>
              <a:t>cinza</a:t>
            </a:r>
            <a:r>
              <a:rPr lang="en-US" sz="2400" dirty="0">
                <a:solidFill>
                  <a:schemeClr val="bg1"/>
                </a:solidFill>
                <a:latin typeface="Arial" pitchFamily="34" charset="0"/>
                <a:ea typeface="Arial" pitchFamily="34" charset="-122"/>
                <a:cs typeface="Arial" pitchFamily="34" charset="-120"/>
              </a:rPr>
              <a:t>.</a:t>
            </a:r>
            <a:r>
              <a:rPr lang="pt-BR" sz="2400" dirty="0">
                <a:solidFill>
                  <a:schemeClr val="bg1"/>
                </a:solidFill>
                <a:latin typeface="Arial" pitchFamily="34" charset="0"/>
                <a:ea typeface="Arial" pitchFamily="34" charset="-122"/>
                <a:cs typeface="Arial" pitchFamily="34" charset="-120"/>
              </a:rPr>
              <a:t>”</a:t>
            </a:r>
          </a:p>
          <a:p>
            <a:pPr marL="0" indent="0" algn="l">
              <a:buNone/>
            </a:pPr>
            <a:endParaRPr lang="pt-BR" sz="2400" dirty="0">
              <a:solidFill>
                <a:schemeClr val="bg1"/>
              </a:solidFill>
              <a:latin typeface="Arial" pitchFamily="34" charset="0"/>
              <a:ea typeface="Arial" pitchFamily="34" charset="-122"/>
              <a:cs typeface="Arial" pitchFamily="34" charset="-120"/>
            </a:endParaRPr>
          </a:p>
          <a:p>
            <a:pPr marL="0" indent="0" algn="l">
              <a:buNone/>
            </a:pPr>
            <a:r>
              <a:rPr lang="en-US" sz="2400" dirty="0">
                <a:solidFill>
                  <a:schemeClr val="bg1"/>
                </a:solidFill>
                <a:latin typeface="Arial" pitchFamily="34" charset="0"/>
                <a:ea typeface="Arial" pitchFamily="34" charset="-122"/>
                <a:cs typeface="Arial" pitchFamily="34" charset="-120"/>
              </a:rPr>
              <a:t> Daniel compreende, pelos escritos do profeta Jeremias, o período anunciado para a desolação de Jerusalém e se volta ao Senhor em oração e súplicas.</a:t>
            </a:r>
            <a:endParaRPr lang="en-US" sz="2400" dirty="0"/>
          </a:p>
          <a:p>
            <a:pPr marL="0" indent="0" algn="l">
              <a:buNone/>
            </a:pPr>
            <a:r>
              <a:rPr lang="en-US" sz="2400" dirty="0">
                <a:solidFill>
                  <a:schemeClr val="bg1"/>
                </a:solidFill>
                <a:latin typeface="Arial" pitchFamily="34" charset="0"/>
                <a:ea typeface="Arial" pitchFamily="34" charset="-122"/>
                <a:cs typeface="Arial" pitchFamily="34" charset="-120"/>
              </a:rPr>
              <a:t>Referências de apoio: </a:t>
            </a:r>
            <a:r>
              <a:rPr lang="en-US" sz="2400" dirty="0" err="1">
                <a:solidFill>
                  <a:schemeClr val="bg1"/>
                </a:solidFill>
                <a:latin typeface="Arial" pitchFamily="34" charset="0"/>
                <a:ea typeface="Arial" pitchFamily="34" charset="-122"/>
                <a:cs typeface="Arial" pitchFamily="34" charset="-120"/>
              </a:rPr>
              <a:t>Jeremias</a:t>
            </a:r>
            <a:r>
              <a:rPr lang="en-US" sz="2400" dirty="0">
                <a:solidFill>
                  <a:schemeClr val="bg1"/>
                </a:solidFill>
                <a:latin typeface="Arial" pitchFamily="34" charset="0"/>
                <a:ea typeface="Arial" pitchFamily="34" charset="-122"/>
                <a:cs typeface="Arial" pitchFamily="34" charset="-120"/>
              </a:rPr>
              <a:t> 25:11</a:t>
            </a:r>
            <a:r>
              <a:rPr lang="pt-BR" sz="2400" dirty="0">
                <a:solidFill>
                  <a:schemeClr val="bg1"/>
                </a:solidFill>
                <a:latin typeface="Arial" pitchFamily="34" charset="0"/>
                <a:ea typeface="Arial" pitchFamily="34" charset="-122"/>
                <a:cs typeface="Arial" pitchFamily="34" charset="-120"/>
              </a:rPr>
              <a:t>-</a:t>
            </a:r>
            <a:r>
              <a:rPr lang="en-US" sz="2400" dirty="0">
                <a:solidFill>
                  <a:schemeClr val="bg1"/>
                </a:solidFill>
                <a:latin typeface="Arial" pitchFamily="34" charset="0"/>
                <a:ea typeface="Arial" pitchFamily="34" charset="-122"/>
                <a:cs typeface="Arial" pitchFamily="34" charset="-120"/>
              </a:rPr>
              <a:t>12; 29:10.</a:t>
            </a:r>
            <a:endParaRPr lang="pt-BR" sz="2400" dirty="0">
              <a:solidFill>
                <a:schemeClr val="bg1"/>
              </a:solidFill>
              <a:latin typeface="Arial" pitchFamily="34" charset="0"/>
              <a:ea typeface="Arial" pitchFamily="34" charset="-122"/>
              <a:cs typeface="Arial" pitchFamily="34" charset="-120"/>
            </a:endParaRPr>
          </a:p>
          <a:p>
            <a:pPr marL="0" indent="0" algn="l">
              <a:buNone/>
            </a:pPr>
            <a:endParaRPr lang="pt-BR" sz="2400" dirty="0">
              <a:solidFill>
                <a:schemeClr val="bg1"/>
              </a:solidFill>
              <a:latin typeface="Arial" pitchFamily="34" charset="0"/>
              <a:ea typeface="Arial" pitchFamily="34" charset="-122"/>
              <a:cs typeface="Arial" pitchFamily="34" charset="-120"/>
            </a:endParaRPr>
          </a:p>
          <a:p>
            <a:pPr marL="0" indent="0" algn="l">
              <a:buNone/>
            </a:pPr>
            <a:r>
              <a:rPr lang="en-US" sz="2400" dirty="0">
                <a:solidFill>
                  <a:schemeClr val="bg1"/>
                </a:solidFill>
                <a:latin typeface="Arial" pitchFamily="34" charset="0"/>
                <a:ea typeface="Arial" pitchFamily="34" charset="-122"/>
                <a:cs typeface="Arial" pitchFamily="34" charset="-120"/>
              </a:rPr>
              <a:t> </a:t>
            </a:r>
            <a:endParaRPr lang="en-US" sz="2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o"/>
          <p:cNvSpPr txBox="1"/>
          <p:nvPr/>
        </p:nvSpPr>
        <p:spPr>
          <a:xfrm>
            <a:off x="182880" y="274320"/>
            <a:ext cx="8778240" cy="6309360"/>
          </a:xfrm>
          <a:prstGeom prst="rect">
            <a:avLst/>
          </a:prstGeom>
          <a:noFill/>
          <a:ln/>
        </p:spPr>
        <p:txBody>
          <a:bodyPr wrap="square" lIns="63500" tIns="63500" rIns="63500" bIns="63500" rtlCol="0" anchor="t"/>
          <a:lstStyle/>
          <a:p>
            <a:pPr marL="0" indent="0" algn="l">
              <a:buNone/>
            </a:pPr>
            <a:endParaRPr lang="pt-BR" sz="2400" dirty="0">
              <a:solidFill>
                <a:schemeClr val="bg1"/>
              </a:solidFill>
              <a:latin typeface="Arial" pitchFamily="34" charset="0"/>
              <a:ea typeface="Arial" pitchFamily="34" charset="-122"/>
              <a:cs typeface="Arial" pitchFamily="34" charset="-120"/>
            </a:endParaRPr>
          </a:p>
          <a:p>
            <a:pPr marL="0" indent="0" algn="l">
              <a:buNone/>
            </a:pPr>
            <a:r>
              <a:rPr lang="en-US" sz="2400" dirty="0">
                <a:solidFill>
                  <a:schemeClr val="bg1"/>
                </a:solidFill>
                <a:latin typeface="Arial" pitchFamily="34" charset="0"/>
                <a:ea typeface="Arial" pitchFamily="34" charset="-122"/>
                <a:cs typeface="Arial" pitchFamily="34" charset="-120"/>
              </a:rPr>
              <a:t> J</a:t>
            </a:r>
            <a:r>
              <a:rPr lang="pt-BR" sz="2400" dirty="0">
                <a:solidFill>
                  <a:schemeClr val="bg1"/>
                </a:solidFill>
                <a:latin typeface="Arial" pitchFamily="34" charset="0"/>
                <a:ea typeface="Arial" pitchFamily="34" charset="-122"/>
                <a:cs typeface="Arial" pitchFamily="34" charset="-120"/>
              </a:rPr>
              <a:t>r.</a:t>
            </a:r>
            <a:r>
              <a:rPr lang="en-US" sz="2400" dirty="0">
                <a:solidFill>
                  <a:schemeClr val="bg1"/>
                </a:solidFill>
                <a:latin typeface="Arial" pitchFamily="34" charset="0"/>
                <a:ea typeface="Arial" pitchFamily="34" charset="-122"/>
                <a:cs typeface="Arial" pitchFamily="34" charset="-120"/>
              </a:rPr>
              <a:t>25:11. </a:t>
            </a:r>
            <a:r>
              <a:rPr lang="pt-BR" sz="2400" dirty="0">
                <a:solidFill>
                  <a:schemeClr val="bg1"/>
                </a:solidFill>
                <a:latin typeface="Arial" pitchFamily="34" charset="0"/>
                <a:ea typeface="Arial" pitchFamily="34" charset="-122"/>
                <a:cs typeface="Arial" pitchFamily="34" charset="-120"/>
              </a:rPr>
              <a:t>“</a:t>
            </a:r>
            <a:r>
              <a:rPr lang="en-US" sz="2400" dirty="0" err="1">
                <a:solidFill>
                  <a:schemeClr val="bg1"/>
                </a:solidFill>
                <a:latin typeface="Arial" pitchFamily="34" charset="0"/>
                <a:ea typeface="Arial" pitchFamily="34" charset="-122"/>
                <a:cs typeface="Arial" pitchFamily="34" charset="-120"/>
              </a:rPr>
              <a:t>Toda</a:t>
            </a:r>
            <a:r>
              <a:rPr lang="en-US" sz="2400" dirty="0">
                <a:solidFill>
                  <a:schemeClr val="bg1"/>
                </a:solidFill>
                <a:latin typeface="Arial" pitchFamily="34" charset="0"/>
                <a:ea typeface="Arial" pitchFamily="34" charset="-122"/>
                <a:cs typeface="Arial" pitchFamily="34" charset="-120"/>
              </a:rPr>
              <a:t> </a:t>
            </a:r>
            <a:r>
              <a:rPr lang="en-US" sz="2400" dirty="0" err="1">
                <a:solidFill>
                  <a:schemeClr val="bg1"/>
                </a:solidFill>
                <a:latin typeface="Arial" pitchFamily="34" charset="0"/>
                <a:ea typeface="Arial" pitchFamily="34" charset="-122"/>
                <a:cs typeface="Arial" pitchFamily="34" charset="-120"/>
              </a:rPr>
              <a:t>esta</a:t>
            </a:r>
            <a:r>
              <a:rPr lang="en-US" sz="2400" dirty="0">
                <a:solidFill>
                  <a:schemeClr val="bg1"/>
                </a:solidFill>
                <a:latin typeface="Arial" pitchFamily="34" charset="0"/>
                <a:ea typeface="Arial" pitchFamily="34" charset="-122"/>
                <a:cs typeface="Arial" pitchFamily="34" charset="-120"/>
              </a:rPr>
              <a:t> terra </a:t>
            </a:r>
            <a:r>
              <a:rPr lang="en-US" sz="2400" dirty="0" err="1">
                <a:solidFill>
                  <a:schemeClr val="bg1"/>
                </a:solidFill>
                <a:latin typeface="Arial" pitchFamily="34" charset="0"/>
                <a:ea typeface="Arial" pitchFamily="34" charset="-122"/>
                <a:cs typeface="Arial" pitchFamily="34" charset="-120"/>
              </a:rPr>
              <a:t>virá</a:t>
            </a:r>
            <a:r>
              <a:rPr lang="en-US" sz="2400" dirty="0">
                <a:solidFill>
                  <a:schemeClr val="bg1"/>
                </a:solidFill>
                <a:latin typeface="Arial" pitchFamily="34" charset="0"/>
                <a:ea typeface="Arial" pitchFamily="34" charset="-122"/>
                <a:cs typeface="Arial" pitchFamily="34" charset="-120"/>
              </a:rPr>
              <a:t> a </a:t>
            </a:r>
            <a:r>
              <a:rPr lang="en-US" sz="2400" dirty="0" err="1">
                <a:solidFill>
                  <a:schemeClr val="bg1"/>
                </a:solidFill>
                <a:latin typeface="Arial" pitchFamily="34" charset="0"/>
                <a:ea typeface="Arial" pitchFamily="34" charset="-122"/>
                <a:cs typeface="Arial" pitchFamily="34" charset="-120"/>
              </a:rPr>
              <a:t>ser</a:t>
            </a:r>
            <a:r>
              <a:rPr lang="en-US" sz="2400" dirty="0">
                <a:solidFill>
                  <a:schemeClr val="bg1"/>
                </a:solidFill>
                <a:latin typeface="Arial" pitchFamily="34" charset="0"/>
                <a:ea typeface="Arial" pitchFamily="34" charset="-122"/>
                <a:cs typeface="Arial" pitchFamily="34" charset="-120"/>
              </a:rPr>
              <a:t> um </a:t>
            </a:r>
            <a:r>
              <a:rPr lang="en-US" sz="2400" dirty="0" err="1">
                <a:solidFill>
                  <a:schemeClr val="bg1"/>
                </a:solidFill>
                <a:latin typeface="Arial" pitchFamily="34" charset="0"/>
                <a:ea typeface="Arial" pitchFamily="34" charset="-122"/>
                <a:cs typeface="Arial" pitchFamily="34" charset="-120"/>
              </a:rPr>
              <a:t>deserto</a:t>
            </a:r>
            <a:r>
              <a:rPr lang="en-US" sz="2400" dirty="0">
                <a:solidFill>
                  <a:schemeClr val="bg1"/>
                </a:solidFill>
                <a:latin typeface="Arial" pitchFamily="34" charset="0"/>
                <a:ea typeface="Arial" pitchFamily="34" charset="-122"/>
                <a:cs typeface="Arial" pitchFamily="34" charset="-120"/>
              </a:rPr>
              <a:t> e um </a:t>
            </a:r>
            <a:r>
              <a:rPr lang="en-US" sz="2400" dirty="0" err="1">
                <a:solidFill>
                  <a:schemeClr val="bg1"/>
                </a:solidFill>
                <a:latin typeface="Arial" pitchFamily="34" charset="0"/>
                <a:ea typeface="Arial" pitchFamily="34" charset="-122"/>
                <a:cs typeface="Arial" pitchFamily="34" charset="-120"/>
              </a:rPr>
              <a:t>espanto</a:t>
            </a:r>
            <a:r>
              <a:rPr lang="en-US" sz="2400" dirty="0">
                <a:solidFill>
                  <a:schemeClr val="bg1"/>
                </a:solidFill>
                <a:latin typeface="Arial" pitchFamily="34" charset="0"/>
                <a:ea typeface="Arial" pitchFamily="34" charset="-122"/>
                <a:cs typeface="Arial" pitchFamily="34" charset="-120"/>
              </a:rPr>
              <a:t>; </a:t>
            </a:r>
            <a:r>
              <a:rPr lang="en-US" sz="2400" dirty="0" err="1">
                <a:solidFill>
                  <a:schemeClr val="bg1"/>
                </a:solidFill>
                <a:latin typeface="Arial" pitchFamily="34" charset="0"/>
                <a:ea typeface="Arial" pitchFamily="34" charset="-122"/>
                <a:cs typeface="Arial" pitchFamily="34" charset="-120"/>
              </a:rPr>
              <a:t>estas</a:t>
            </a:r>
            <a:r>
              <a:rPr lang="en-US" sz="2400" dirty="0">
                <a:solidFill>
                  <a:schemeClr val="bg1"/>
                </a:solidFill>
                <a:latin typeface="Arial" pitchFamily="34" charset="0"/>
                <a:ea typeface="Arial" pitchFamily="34" charset="-122"/>
                <a:cs typeface="Arial" pitchFamily="34" charset="-120"/>
              </a:rPr>
              <a:t> </a:t>
            </a:r>
            <a:r>
              <a:rPr lang="en-US" sz="2400" dirty="0" err="1">
                <a:solidFill>
                  <a:schemeClr val="bg1"/>
                </a:solidFill>
                <a:latin typeface="Arial" pitchFamily="34" charset="0"/>
                <a:ea typeface="Arial" pitchFamily="34" charset="-122"/>
                <a:cs typeface="Arial" pitchFamily="34" charset="-120"/>
              </a:rPr>
              <a:t>nações</a:t>
            </a:r>
            <a:r>
              <a:rPr lang="en-US" sz="2400" dirty="0">
                <a:solidFill>
                  <a:schemeClr val="bg1"/>
                </a:solidFill>
                <a:latin typeface="Arial" pitchFamily="34" charset="0"/>
                <a:ea typeface="Arial" pitchFamily="34" charset="-122"/>
                <a:cs typeface="Arial" pitchFamily="34" charset="-120"/>
              </a:rPr>
              <a:t> </a:t>
            </a:r>
            <a:r>
              <a:rPr lang="en-US" sz="2400" dirty="0" err="1">
                <a:solidFill>
                  <a:schemeClr val="bg1"/>
                </a:solidFill>
                <a:latin typeface="Arial" pitchFamily="34" charset="0"/>
                <a:ea typeface="Arial" pitchFamily="34" charset="-122"/>
                <a:cs typeface="Arial" pitchFamily="34" charset="-120"/>
              </a:rPr>
              <a:t>servirão</a:t>
            </a:r>
            <a:r>
              <a:rPr lang="en-US" sz="2400" dirty="0">
                <a:solidFill>
                  <a:schemeClr val="bg1"/>
                </a:solidFill>
                <a:latin typeface="Arial" pitchFamily="34" charset="0"/>
                <a:ea typeface="Arial" pitchFamily="34" charset="-122"/>
                <a:cs typeface="Arial" pitchFamily="34" charset="-120"/>
              </a:rPr>
              <a:t> </a:t>
            </a:r>
            <a:r>
              <a:rPr lang="en-US" sz="2400" dirty="0" err="1">
                <a:solidFill>
                  <a:schemeClr val="bg1"/>
                </a:solidFill>
                <a:latin typeface="Arial" pitchFamily="34" charset="0"/>
                <a:ea typeface="Arial" pitchFamily="34" charset="-122"/>
                <a:cs typeface="Arial" pitchFamily="34" charset="-120"/>
              </a:rPr>
              <a:t>ao</a:t>
            </a:r>
            <a:r>
              <a:rPr lang="en-US" sz="2400" dirty="0">
                <a:solidFill>
                  <a:schemeClr val="bg1"/>
                </a:solidFill>
                <a:latin typeface="Arial" pitchFamily="34" charset="0"/>
                <a:ea typeface="Arial" pitchFamily="34" charset="-122"/>
                <a:cs typeface="Arial" pitchFamily="34" charset="-120"/>
              </a:rPr>
              <a:t> rei da </a:t>
            </a:r>
            <a:r>
              <a:rPr lang="en-US" sz="2400" dirty="0" err="1">
                <a:solidFill>
                  <a:schemeClr val="bg1"/>
                </a:solidFill>
                <a:latin typeface="Arial" pitchFamily="34" charset="0"/>
                <a:ea typeface="Arial" pitchFamily="34" charset="-122"/>
                <a:cs typeface="Arial" pitchFamily="34" charset="-120"/>
              </a:rPr>
              <a:t>Babilônia</a:t>
            </a:r>
            <a:r>
              <a:rPr lang="en-US" sz="2400" dirty="0">
                <a:solidFill>
                  <a:schemeClr val="bg1"/>
                </a:solidFill>
                <a:latin typeface="Arial" pitchFamily="34" charset="0"/>
                <a:ea typeface="Arial" pitchFamily="34" charset="-122"/>
                <a:cs typeface="Arial" pitchFamily="34" charset="-120"/>
              </a:rPr>
              <a:t> </a:t>
            </a:r>
            <a:r>
              <a:rPr lang="en-US" sz="2400" dirty="0" err="1">
                <a:solidFill>
                  <a:schemeClr val="bg1"/>
                </a:solidFill>
                <a:latin typeface="Arial" pitchFamily="34" charset="0"/>
                <a:ea typeface="Arial" pitchFamily="34" charset="-122"/>
                <a:cs typeface="Arial" pitchFamily="34" charset="-120"/>
              </a:rPr>
              <a:t>setenta</a:t>
            </a:r>
            <a:r>
              <a:rPr lang="en-US" sz="2400" dirty="0">
                <a:solidFill>
                  <a:schemeClr val="bg1"/>
                </a:solidFill>
                <a:latin typeface="Arial" pitchFamily="34" charset="0"/>
                <a:ea typeface="Arial" pitchFamily="34" charset="-122"/>
                <a:cs typeface="Arial" pitchFamily="34" charset="-120"/>
              </a:rPr>
              <a:t> </a:t>
            </a:r>
            <a:r>
              <a:rPr lang="en-US" sz="2400" dirty="0" err="1">
                <a:solidFill>
                  <a:schemeClr val="bg1"/>
                </a:solidFill>
                <a:latin typeface="Arial" pitchFamily="34" charset="0"/>
                <a:ea typeface="Arial" pitchFamily="34" charset="-122"/>
                <a:cs typeface="Arial" pitchFamily="34" charset="-120"/>
              </a:rPr>
              <a:t>anos</a:t>
            </a:r>
            <a:r>
              <a:rPr lang="en-US" sz="2400" dirty="0">
                <a:solidFill>
                  <a:schemeClr val="bg1"/>
                </a:solidFill>
                <a:latin typeface="Arial" pitchFamily="34" charset="0"/>
                <a:ea typeface="Arial" pitchFamily="34" charset="-122"/>
                <a:cs typeface="Arial" pitchFamily="34" charset="-120"/>
              </a:rPr>
              <a:t>. 12. </a:t>
            </a:r>
            <a:r>
              <a:rPr lang="en-US" sz="2400" dirty="0" err="1">
                <a:solidFill>
                  <a:schemeClr val="bg1"/>
                </a:solidFill>
                <a:latin typeface="Arial" pitchFamily="34" charset="0"/>
                <a:ea typeface="Arial" pitchFamily="34" charset="-122"/>
                <a:cs typeface="Arial" pitchFamily="34" charset="-120"/>
              </a:rPr>
              <a:t>Acontecerá</a:t>
            </a:r>
            <a:r>
              <a:rPr lang="en-US" sz="2400" dirty="0">
                <a:solidFill>
                  <a:schemeClr val="bg1"/>
                </a:solidFill>
                <a:latin typeface="Arial" pitchFamily="34" charset="0"/>
                <a:ea typeface="Arial" pitchFamily="34" charset="-122"/>
                <a:cs typeface="Arial" pitchFamily="34" charset="-120"/>
              </a:rPr>
              <a:t>, </a:t>
            </a:r>
            <a:r>
              <a:rPr lang="en-US" sz="2400" dirty="0" err="1">
                <a:solidFill>
                  <a:schemeClr val="bg1"/>
                </a:solidFill>
                <a:latin typeface="Arial" pitchFamily="34" charset="0"/>
                <a:ea typeface="Arial" pitchFamily="34" charset="-122"/>
                <a:cs typeface="Arial" pitchFamily="34" charset="-120"/>
              </a:rPr>
              <a:t>porém</a:t>
            </a:r>
            <a:r>
              <a:rPr lang="en-US" sz="2400" dirty="0">
                <a:solidFill>
                  <a:schemeClr val="bg1"/>
                </a:solidFill>
                <a:latin typeface="Arial" pitchFamily="34" charset="0"/>
                <a:ea typeface="Arial" pitchFamily="34" charset="-122"/>
                <a:cs typeface="Arial" pitchFamily="34" charset="-120"/>
              </a:rPr>
              <a:t>, </a:t>
            </a:r>
            <a:r>
              <a:rPr lang="en-US" sz="2400" dirty="0" err="1">
                <a:solidFill>
                  <a:schemeClr val="bg1"/>
                </a:solidFill>
                <a:latin typeface="Arial" pitchFamily="34" charset="0"/>
                <a:ea typeface="Arial" pitchFamily="34" charset="-122"/>
                <a:cs typeface="Arial" pitchFamily="34" charset="-120"/>
              </a:rPr>
              <a:t>que</a:t>
            </a:r>
            <a:r>
              <a:rPr lang="en-US" sz="2400" dirty="0">
                <a:solidFill>
                  <a:schemeClr val="bg1"/>
                </a:solidFill>
                <a:latin typeface="Arial" pitchFamily="34" charset="0"/>
                <a:ea typeface="Arial" pitchFamily="34" charset="-122"/>
                <a:cs typeface="Arial" pitchFamily="34" charset="-120"/>
              </a:rPr>
              <a:t>, </a:t>
            </a:r>
            <a:r>
              <a:rPr lang="en-US" sz="2400" dirty="0" err="1">
                <a:solidFill>
                  <a:schemeClr val="bg1"/>
                </a:solidFill>
                <a:latin typeface="Arial" pitchFamily="34" charset="0"/>
                <a:ea typeface="Arial" pitchFamily="34" charset="-122"/>
                <a:cs typeface="Arial" pitchFamily="34" charset="-120"/>
              </a:rPr>
              <a:t>quando</a:t>
            </a:r>
            <a:r>
              <a:rPr lang="en-US" sz="2400" dirty="0">
                <a:solidFill>
                  <a:schemeClr val="bg1"/>
                </a:solidFill>
                <a:latin typeface="Arial" pitchFamily="34" charset="0"/>
                <a:ea typeface="Arial" pitchFamily="34" charset="-122"/>
                <a:cs typeface="Arial" pitchFamily="34" charset="-120"/>
              </a:rPr>
              <a:t> se </a:t>
            </a:r>
            <a:r>
              <a:rPr lang="en-US" sz="2400" dirty="0" err="1">
                <a:solidFill>
                  <a:schemeClr val="bg1"/>
                </a:solidFill>
                <a:latin typeface="Arial" pitchFamily="34" charset="0"/>
                <a:ea typeface="Arial" pitchFamily="34" charset="-122"/>
                <a:cs typeface="Arial" pitchFamily="34" charset="-120"/>
              </a:rPr>
              <a:t>cumprirem</a:t>
            </a:r>
            <a:r>
              <a:rPr lang="en-US" sz="2400" dirty="0">
                <a:solidFill>
                  <a:schemeClr val="bg1"/>
                </a:solidFill>
                <a:latin typeface="Arial" pitchFamily="34" charset="0"/>
                <a:ea typeface="Arial" pitchFamily="34" charset="-122"/>
                <a:cs typeface="Arial" pitchFamily="34" charset="-120"/>
              </a:rPr>
              <a:t> os </a:t>
            </a:r>
            <a:r>
              <a:rPr lang="en-US" sz="2400" dirty="0" err="1">
                <a:solidFill>
                  <a:schemeClr val="bg1"/>
                </a:solidFill>
                <a:latin typeface="Arial" pitchFamily="34" charset="0"/>
                <a:ea typeface="Arial" pitchFamily="34" charset="-122"/>
                <a:cs typeface="Arial" pitchFamily="34" charset="-120"/>
              </a:rPr>
              <a:t>setenta</a:t>
            </a:r>
            <a:r>
              <a:rPr lang="en-US" sz="2400" dirty="0">
                <a:solidFill>
                  <a:schemeClr val="bg1"/>
                </a:solidFill>
                <a:latin typeface="Arial" pitchFamily="34" charset="0"/>
                <a:ea typeface="Arial" pitchFamily="34" charset="-122"/>
                <a:cs typeface="Arial" pitchFamily="34" charset="-120"/>
              </a:rPr>
              <a:t> </a:t>
            </a:r>
            <a:r>
              <a:rPr lang="en-US" sz="2400" dirty="0" err="1">
                <a:solidFill>
                  <a:schemeClr val="bg1"/>
                </a:solidFill>
                <a:latin typeface="Arial" pitchFamily="34" charset="0"/>
                <a:ea typeface="Arial" pitchFamily="34" charset="-122"/>
                <a:cs typeface="Arial" pitchFamily="34" charset="-120"/>
              </a:rPr>
              <a:t>anos</a:t>
            </a:r>
            <a:r>
              <a:rPr lang="en-US" sz="2400" dirty="0">
                <a:solidFill>
                  <a:schemeClr val="bg1"/>
                </a:solidFill>
                <a:latin typeface="Arial" pitchFamily="34" charset="0"/>
                <a:ea typeface="Arial" pitchFamily="34" charset="-122"/>
                <a:cs typeface="Arial" pitchFamily="34" charset="-120"/>
              </a:rPr>
              <a:t>, </a:t>
            </a:r>
            <a:r>
              <a:rPr lang="en-US" sz="2400" dirty="0" err="1">
                <a:solidFill>
                  <a:schemeClr val="bg1"/>
                </a:solidFill>
                <a:latin typeface="Arial" pitchFamily="34" charset="0"/>
                <a:ea typeface="Arial" pitchFamily="34" charset="-122"/>
                <a:cs typeface="Arial" pitchFamily="34" charset="-120"/>
              </a:rPr>
              <a:t>castigarei</a:t>
            </a:r>
            <a:r>
              <a:rPr lang="en-US" sz="2400" dirty="0">
                <a:solidFill>
                  <a:schemeClr val="bg1"/>
                </a:solidFill>
                <a:latin typeface="Arial" pitchFamily="34" charset="0"/>
                <a:ea typeface="Arial" pitchFamily="34" charset="-122"/>
                <a:cs typeface="Arial" pitchFamily="34" charset="-120"/>
              </a:rPr>
              <a:t> a </a:t>
            </a:r>
            <a:r>
              <a:rPr lang="en-US" sz="2400" dirty="0" err="1">
                <a:solidFill>
                  <a:schemeClr val="bg1"/>
                </a:solidFill>
                <a:latin typeface="Arial" pitchFamily="34" charset="0"/>
                <a:ea typeface="Arial" pitchFamily="34" charset="-122"/>
                <a:cs typeface="Arial" pitchFamily="34" charset="-120"/>
              </a:rPr>
              <a:t>iniquidade</a:t>
            </a:r>
            <a:r>
              <a:rPr lang="en-US" sz="2400" dirty="0">
                <a:solidFill>
                  <a:schemeClr val="bg1"/>
                </a:solidFill>
                <a:latin typeface="Arial" pitchFamily="34" charset="0"/>
                <a:ea typeface="Arial" pitchFamily="34" charset="-122"/>
                <a:cs typeface="Arial" pitchFamily="34" charset="-120"/>
              </a:rPr>
              <a:t> do rei da </a:t>
            </a:r>
            <a:r>
              <a:rPr lang="en-US" sz="2400" dirty="0" err="1">
                <a:solidFill>
                  <a:schemeClr val="bg1"/>
                </a:solidFill>
                <a:latin typeface="Arial" pitchFamily="34" charset="0"/>
                <a:ea typeface="Arial" pitchFamily="34" charset="-122"/>
                <a:cs typeface="Arial" pitchFamily="34" charset="-120"/>
              </a:rPr>
              <a:t>Babilônia</a:t>
            </a:r>
            <a:r>
              <a:rPr lang="en-US" sz="2400" dirty="0">
                <a:solidFill>
                  <a:schemeClr val="bg1"/>
                </a:solidFill>
                <a:latin typeface="Arial" pitchFamily="34" charset="0"/>
                <a:ea typeface="Arial" pitchFamily="34" charset="-122"/>
                <a:cs typeface="Arial" pitchFamily="34" charset="-120"/>
              </a:rPr>
              <a:t> e a </a:t>
            </a:r>
            <a:r>
              <a:rPr lang="en-US" sz="2400" dirty="0" err="1">
                <a:solidFill>
                  <a:schemeClr val="bg1"/>
                </a:solidFill>
                <a:latin typeface="Arial" pitchFamily="34" charset="0"/>
                <a:ea typeface="Arial" pitchFamily="34" charset="-122"/>
                <a:cs typeface="Arial" pitchFamily="34" charset="-120"/>
              </a:rPr>
              <a:t>desta</a:t>
            </a:r>
            <a:r>
              <a:rPr lang="en-US" sz="2400" dirty="0">
                <a:solidFill>
                  <a:schemeClr val="bg1"/>
                </a:solidFill>
                <a:latin typeface="Arial" pitchFamily="34" charset="0"/>
                <a:ea typeface="Arial" pitchFamily="34" charset="-122"/>
                <a:cs typeface="Arial" pitchFamily="34" charset="-120"/>
              </a:rPr>
              <a:t> </a:t>
            </a:r>
            <a:r>
              <a:rPr lang="en-US" sz="2400" dirty="0" err="1">
                <a:solidFill>
                  <a:schemeClr val="bg1"/>
                </a:solidFill>
                <a:latin typeface="Arial" pitchFamily="34" charset="0"/>
                <a:ea typeface="Arial" pitchFamily="34" charset="-122"/>
                <a:cs typeface="Arial" pitchFamily="34" charset="-120"/>
              </a:rPr>
              <a:t>nação</a:t>
            </a:r>
            <a:r>
              <a:rPr lang="en-US" sz="2400" dirty="0">
                <a:solidFill>
                  <a:schemeClr val="bg1"/>
                </a:solidFill>
                <a:latin typeface="Arial" pitchFamily="34" charset="0"/>
                <a:ea typeface="Arial" pitchFamily="34" charset="-122"/>
                <a:cs typeface="Arial" pitchFamily="34" charset="-120"/>
              </a:rPr>
              <a:t>, </a:t>
            </a:r>
            <a:r>
              <a:rPr lang="en-US" sz="2400" dirty="0" err="1">
                <a:solidFill>
                  <a:schemeClr val="bg1"/>
                </a:solidFill>
                <a:latin typeface="Arial" pitchFamily="34" charset="0"/>
                <a:ea typeface="Arial" pitchFamily="34" charset="-122"/>
                <a:cs typeface="Arial" pitchFamily="34" charset="-120"/>
              </a:rPr>
              <a:t>diz</a:t>
            </a:r>
            <a:r>
              <a:rPr lang="en-US" sz="2400" dirty="0">
                <a:solidFill>
                  <a:schemeClr val="bg1"/>
                </a:solidFill>
                <a:latin typeface="Arial" pitchFamily="34" charset="0"/>
                <a:ea typeface="Arial" pitchFamily="34" charset="-122"/>
                <a:cs typeface="Arial" pitchFamily="34" charset="-120"/>
              </a:rPr>
              <a:t> o </a:t>
            </a:r>
            <a:r>
              <a:rPr lang="en-US" sz="2400" dirty="0" err="1">
                <a:solidFill>
                  <a:schemeClr val="bg1"/>
                </a:solidFill>
                <a:latin typeface="Arial" pitchFamily="34" charset="0"/>
                <a:ea typeface="Arial" pitchFamily="34" charset="-122"/>
                <a:cs typeface="Arial" pitchFamily="34" charset="-120"/>
              </a:rPr>
              <a:t>Senhor</a:t>
            </a:r>
            <a:r>
              <a:rPr lang="en-US" sz="2400" dirty="0">
                <a:solidFill>
                  <a:schemeClr val="bg1"/>
                </a:solidFill>
                <a:latin typeface="Arial" pitchFamily="34" charset="0"/>
                <a:ea typeface="Arial" pitchFamily="34" charset="-122"/>
                <a:cs typeface="Arial" pitchFamily="34" charset="-120"/>
              </a:rPr>
              <a:t>, </a:t>
            </a:r>
            <a:r>
              <a:rPr lang="en-US" sz="2400" dirty="0" err="1">
                <a:solidFill>
                  <a:schemeClr val="bg1"/>
                </a:solidFill>
                <a:latin typeface="Arial" pitchFamily="34" charset="0"/>
                <a:ea typeface="Arial" pitchFamily="34" charset="-122"/>
                <a:cs typeface="Arial" pitchFamily="34" charset="-120"/>
              </a:rPr>
              <a:t>como</a:t>
            </a:r>
            <a:r>
              <a:rPr lang="en-US" sz="2400" dirty="0">
                <a:solidFill>
                  <a:schemeClr val="bg1"/>
                </a:solidFill>
                <a:latin typeface="Arial" pitchFamily="34" charset="0"/>
                <a:ea typeface="Arial" pitchFamily="34" charset="-122"/>
                <a:cs typeface="Arial" pitchFamily="34" charset="-120"/>
              </a:rPr>
              <a:t> </a:t>
            </a:r>
            <a:r>
              <a:rPr lang="en-US" sz="2400" dirty="0" err="1">
                <a:solidFill>
                  <a:schemeClr val="bg1"/>
                </a:solidFill>
                <a:latin typeface="Arial" pitchFamily="34" charset="0"/>
                <a:ea typeface="Arial" pitchFamily="34" charset="-122"/>
                <a:cs typeface="Arial" pitchFamily="34" charset="-120"/>
              </a:rPr>
              <a:t>também</a:t>
            </a:r>
            <a:r>
              <a:rPr lang="en-US" sz="2400" dirty="0">
                <a:solidFill>
                  <a:schemeClr val="bg1"/>
                </a:solidFill>
                <a:latin typeface="Arial" pitchFamily="34" charset="0"/>
                <a:ea typeface="Arial" pitchFamily="34" charset="-122"/>
                <a:cs typeface="Arial" pitchFamily="34" charset="-120"/>
              </a:rPr>
              <a:t> a da terra dos </a:t>
            </a:r>
            <a:r>
              <a:rPr lang="en-US" sz="2400" dirty="0" err="1">
                <a:solidFill>
                  <a:schemeClr val="bg1"/>
                </a:solidFill>
                <a:latin typeface="Arial" pitchFamily="34" charset="0"/>
                <a:ea typeface="Arial" pitchFamily="34" charset="-122"/>
                <a:cs typeface="Arial" pitchFamily="34" charset="-120"/>
              </a:rPr>
              <a:t>caldeus</a:t>
            </a:r>
            <a:r>
              <a:rPr lang="en-US" sz="2400" dirty="0">
                <a:solidFill>
                  <a:schemeClr val="bg1"/>
                </a:solidFill>
                <a:latin typeface="Arial" pitchFamily="34" charset="0"/>
                <a:ea typeface="Arial" pitchFamily="34" charset="-122"/>
                <a:cs typeface="Arial" pitchFamily="34" charset="-120"/>
              </a:rPr>
              <a:t>; </a:t>
            </a:r>
            <a:r>
              <a:rPr lang="en-US" sz="2400" dirty="0" err="1">
                <a:solidFill>
                  <a:schemeClr val="bg1"/>
                </a:solidFill>
                <a:latin typeface="Arial" pitchFamily="34" charset="0"/>
                <a:ea typeface="Arial" pitchFamily="34" charset="-122"/>
                <a:cs typeface="Arial" pitchFamily="34" charset="-120"/>
              </a:rPr>
              <a:t>farei</a:t>
            </a:r>
            <a:r>
              <a:rPr lang="en-US" sz="2400" dirty="0">
                <a:solidFill>
                  <a:schemeClr val="bg1"/>
                </a:solidFill>
                <a:latin typeface="Arial" pitchFamily="34" charset="0"/>
                <a:ea typeface="Arial" pitchFamily="34" charset="-122"/>
                <a:cs typeface="Arial" pitchFamily="34" charset="-120"/>
              </a:rPr>
              <a:t> deles </a:t>
            </a:r>
            <a:r>
              <a:rPr lang="en-US" sz="2400" dirty="0" err="1">
                <a:solidFill>
                  <a:schemeClr val="bg1"/>
                </a:solidFill>
                <a:latin typeface="Arial" pitchFamily="34" charset="0"/>
                <a:ea typeface="Arial" pitchFamily="34" charset="-122"/>
                <a:cs typeface="Arial" pitchFamily="34" charset="-120"/>
              </a:rPr>
              <a:t>ruínas</a:t>
            </a:r>
            <a:r>
              <a:rPr lang="en-US" sz="2400" dirty="0">
                <a:solidFill>
                  <a:schemeClr val="bg1"/>
                </a:solidFill>
                <a:latin typeface="Arial" pitchFamily="34" charset="0"/>
                <a:ea typeface="Arial" pitchFamily="34" charset="-122"/>
                <a:cs typeface="Arial" pitchFamily="34" charset="-120"/>
              </a:rPr>
              <a:t> </a:t>
            </a:r>
            <a:r>
              <a:rPr lang="en-US" sz="2400" dirty="0" err="1">
                <a:solidFill>
                  <a:schemeClr val="bg1"/>
                </a:solidFill>
                <a:latin typeface="Arial" pitchFamily="34" charset="0"/>
                <a:ea typeface="Arial" pitchFamily="34" charset="-122"/>
                <a:cs typeface="Arial" pitchFamily="34" charset="-120"/>
              </a:rPr>
              <a:t>perpétuas</a:t>
            </a:r>
            <a:r>
              <a:rPr lang="en-US" sz="2400" dirty="0">
                <a:solidFill>
                  <a:schemeClr val="bg1"/>
                </a:solidFill>
                <a:latin typeface="Arial" pitchFamily="34" charset="0"/>
                <a:ea typeface="Arial" pitchFamily="34" charset="-122"/>
                <a:cs typeface="Arial" pitchFamily="34" charset="-120"/>
              </a:rPr>
              <a:t>.</a:t>
            </a:r>
            <a:r>
              <a:rPr lang="pt-BR" sz="2400" dirty="0">
                <a:solidFill>
                  <a:schemeClr val="bg1"/>
                </a:solidFill>
                <a:latin typeface="Arial" pitchFamily="34" charset="0"/>
                <a:ea typeface="Arial" pitchFamily="34" charset="-122"/>
                <a:cs typeface="Arial" pitchFamily="34" charset="-120"/>
              </a:rPr>
              <a:t>”</a:t>
            </a:r>
          </a:p>
          <a:p>
            <a:pPr marL="0" indent="0" algn="l">
              <a:buNone/>
            </a:pPr>
            <a:endParaRPr lang="pt-BR" sz="2400" dirty="0">
              <a:solidFill>
                <a:schemeClr val="bg1"/>
              </a:solidFill>
              <a:latin typeface="Arial" pitchFamily="34" charset="0"/>
              <a:ea typeface="Arial" pitchFamily="34" charset="-122"/>
              <a:cs typeface="Arial" pitchFamily="34" charset="-120"/>
            </a:endParaRPr>
          </a:p>
          <a:p>
            <a:pPr marL="0" indent="0" algn="l">
              <a:buNone/>
            </a:pPr>
            <a:r>
              <a:rPr lang="pt-BR" sz="2400" dirty="0">
                <a:solidFill>
                  <a:schemeClr val="bg1"/>
                </a:solidFill>
                <a:latin typeface="Arial" pitchFamily="34" charset="0"/>
                <a:ea typeface="Arial" pitchFamily="34" charset="-122"/>
                <a:cs typeface="Arial" pitchFamily="34" charset="-120"/>
              </a:rPr>
              <a:t> Jr.29:10. “ Assim diz o Senhor: Logo que se cumprirem para a Babilônia setenta anos, atentarei para vós outros e cumprirei para convosco a minha boa palavra, tornando a trazer-vos para este lugar.”</a:t>
            </a:r>
            <a:endParaRPr lang="pt-BR" sz="2400" dirty="0">
              <a:solidFill>
                <a:schemeClr val="bg1"/>
              </a:solidFill>
              <a:latin typeface="Arial" pitchFamily="34" charset="0"/>
              <a:cs typeface="Arial" pitchFamily="34" charset="-120"/>
            </a:endParaRPr>
          </a:p>
          <a:p>
            <a:pPr marL="0" indent="0" algn="l">
              <a:buNone/>
            </a:pPr>
            <a:endParaRPr lang="en-US" sz="2400" dirty="0"/>
          </a:p>
        </p:txBody>
      </p:sp>
    </p:spTree>
    <p:extLst>
      <p:ext uri="{BB962C8B-B14F-4D97-AF65-F5344CB8AC3E}">
        <p14:creationId xmlns:p14="http://schemas.microsoft.com/office/powerpoint/2010/main" val="8540084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o"/>
          <p:cNvSpPr txBox="1"/>
          <p:nvPr/>
        </p:nvSpPr>
        <p:spPr>
          <a:xfrm>
            <a:off x="182880" y="274320"/>
            <a:ext cx="8778240" cy="6309360"/>
          </a:xfrm>
          <a:prstGeom prst="rect">
            <a:avLst/>
          </a:prstGeom>
          <a:noFill/>
          <a:ln/>
        </p:spPr>
        <p:txBody>
          <a:bodyPr wrap="square" lIns="63500" tIns="63500" rIns="63500" bIns="63500" rtlCol="0" anchor="t"/>
          <a:lstStyle/>
          <a:p>
            <a:pPr marL="0" indent="0" algn="l">
              <a:buNone/>
            </a:pPr>
            <a:r>
              <a:rPr lang="en-US" sz="2400" b="1" dirty="0">
                <a:solidFill>
                  <a:schemeClr val="accent1"/>
                </a:solidFill>
                <a:latin typeface="Arial" pitchFamily="34" charset="0"/>
                <a:ea typeface="Arial" pitchFamily="34" charset="-122"/>
                <a:cs typeface="Arial" pitchFamily="34" charset="-120"/>
              </a:rPr>
              <a:t>OBSERVAÇÃO</a:t>
            </a:r>
            <a:endParaRPr lang="en-US" sz="2400" dirty="0"/>
          </a:p>
          <a:p>
            <a:pPr marL="0" indent="0" algn="l">
              <a:buNone/>
            </a:pPr>
            <a:endParaRPr lang="en-US" sz="2400" dirty="0"/>
          </a:p>
          <a:p>
            <a:pPr marL="0" indent="0" algn="l">
              <a:buNone/>
            </a:pPr>
            <a:r>
              <a:rPr lang="en-US" sz="2400" dirty="0">
                <a:solidFill>
                  <a:schemeClr val="bg1"/>
                </a:solidFill>
                <a:latin typeface="Arial" pitchFamily="34" charset="0"/>
                <a:ea typeface="Arial" pitchFamily="34" charset="-122"/>
                <a:cs typeface="Arial" pitchFamily="34" charset="-120"/>
              </a:rPr>
              <a:t>Daniel vivia em uma realidade difícil: seu povo estava no exílio, e a situação de Jerusalém parecia marcada pela derrota. Mesmo assim, Daniel não fundamentou sua oração somente no sofrimento que via nem naquilo que desejava que acontecesse. Ele examinou as Escrituras e percebeu o que Deus havia declarado por meio do profeta Jeremias.</a:t>
            </a:r>
            <a:endParaRPr lang="en-US" sz="2400" dirty="0"/>
          </a:p>
          <a:p>
            <a:pPr marL="0" indent="0" algn="l">
              <a:buNone/>
            </a:pPr>
            <a:endParaRPr lang="en-US" sz="2400" dirty="0"/>
          </a:p>
          <a:p>
            <a:pPr marL="0" indent="0" algn="l">
              <a:buNone/>
            </a:pPr>
            <a:r>
              <a:rPr lang="en-US" sz="2400" dirty="0">
                <a:solidFill>
                  <a:schemeClr val="bg1"/>
                </a:solidFill>
                <a:latin typeface="Arial" pitchFamily="34" charset="0"/>
                <a:ea typeface="Arial" pitchFamily="34" charset="-122"/>
                <a:cs typeface="Arial" pitchFamily="34" charset="-120"/>
              </a:rPr>
              <a:t>A leitura da Palavra não o tornou passivo. Pelo contrário: despertou nele a necessidade de buscar o Senhor. Daniel orou, confessou pecados e apresentou suas súplicas. Nesse episódio, a Bíblia orienta a oração: primeiro ouvimos o que Deus revelou; então nos dirigimos a Ele com entendimento, reverência e esperança.</a:t>
            </a:r>
            <a:endParaRPr lang="en-US" sz="2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o"/>
          <p:cNvSpPr txBox="1"/>
          <p:nvPr/>
        </p:nvSpPr>
        <p:spPr>
          <a:xfrm>
            <a:off x="457200" y="685800"/>
            <a:ext cx="8229600" cy="5486400"/>
          </a:xfrm>
          <a:prstGeom prst="rect">
            <a:avLst/>
          </a:prstGeom>
          <a:noFill/>
          <a:ln/>
        </p:spPr>
        <p:txBody>
          <a:bodyPr wrap="square" lIns="63500" tIns="63500" rIns="63500" bIns="63500" rtlCol="0" anchor="ctr"/>
          <a:lstStyle/>
          <a:p>
            <a:pPr marL="0" indent="0" algn="l">
              <a:buNone/>
            </a:pPr>
            <a:r>
              <a:rPr lang="en-US" sz="2400" dirty="0">
                <a:solidFill>
                  <a:schemeClr val="bg1"/>
                </a:solidFill>
                <a:latin typeface="Arial" pitchFamily="34" charset="0"/>
                <a:ea typeface="Arial" pitchFamily="34" charset="-122"/>
                <a:cs typeface="Arial" pitchFamily="34" charset="-120"/>
              </a:rPr>
              <a:t>Sentimentos e circunstâncias podem nos levar a buscar a Deus, mas não devem determinar sozinhos aquilo em que cremos a respeito dele. A Palavra é o fundamento seguro para conhecer o caráter e as promessas do Senhor.</a:t>
            </a:r>
            <a:endParaRPr lang="en-US" sz="2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o"/>
          <p:cNvSpPr txBox="1"/>
          <p:nvPr/>
        </p:nvSpPr>
        <p:spPr>
          <a:xfrm>
            <a:off x="182880" y="274320"/>
            <a:ext cx="8778240" cy="6309360"/>
          </a:xfrm>
          <a:prstGeom prst="rect">
            <a:avLst/>
          </a:prstGeom>
          <a:noFill/>
          <a:ln/>
        </p:spPr>
        <p:txBody>
          <a:bodyPr wrap="square" lIns="63500" tIns="63500" rIns="63500" bIns="63500" rtlCol="0" anchor="t"/>
          <a:lstStyle/>
          <a:p>
            <a:pPr marL="0" indent="0" algn="l">
              <a:buNone/>
            </a:pPr>
            <a:r>
              <a:rPr lang="en-US" sz="2400" b="1" dirty="0">
                <a:solidFill>
                  <a:schemeClr val="accent1"/>
                </a:solidFill>
                <a:latin typeface="Arial" pitchFamily="34" charset="0"/>
                <a:ea typeface="Arial" pitchFamily="34" charset="-122"/>
                <a:cs typeface="Arial" pitchFamily="34" charset="-120"/>
              </a:rPr>
              <a:t>COMO DANIEL TINHA ACESSO ÀS ESCRITURAS?</a:t>
            </a:r>
            <a:endParaRPr lang="en-US" sz="2400" dirty="0"/>
          </a:p>
          <a:p>
            <a:pPr marL="0" indent="0" algn="l">
              <a:buNone/>
            </a:pPr>
            <a:endParaRPr lang="en-US" sz="2400" dirty="0"/>
          </a:p>
          <a:p>
            <a:pPr marL="0" indent="0" algn="l">
              <a:buNone/>
            </a:pPr>
            <a:r>
              <a:rPr lang="en-US" sz="2400" dirty="0">
                <a:solidFill>
                  <a:schemeClr val="bg1"/>
                </a:solidFill>
                <a:latin typeface="Arial" pitchFamily="34" charset="0"/>
                <a:ea typeface="Arial" pitchFamily="34" charset="-122"/>
                <a:cs typeface="Arial" pitchFamily="34" charset="-120"/>
              </a:rPr>
              <a:t>Hoje, temos a Bíblia reunida em um único volume, com os 66 livros que compõem as Escrituras na tradição protestante. Daniel, porém, consultava os escritos sagrados disponíveis em sua época.</a:t>
            </a:r>
            <a:endParaRPr lang="en-US" sz="2400" dirty="0"/>
          </a:p>
          <a:p>
            <a:pPr marL="0" indent="0" algn="l">
              <a:buNone/>
            </a:pPr>
            <a:endParaRPr lang="en-US" sz="2400" dirty="0"/>
          </a:p>
          <a:p>
            <a:pPr marL="0" indent="0" algn="l">
              <a:buNone/>
            </a:pPr>
            <a:r>
              <a:rPr lang="en-US" sz="2400" dirty="0">
                <a:solidFill>
                  <a:schemeClr val="bg1"/>
                </a:solidFill>
                <a:latin typeface="Arial" pitchFamily="34" charset="0"/>
                <a:ea typeface="Arial" pitchFamily="34" charset="-122"/>
                <a:cs typeface="Arial" pitchFamily="34" charset="-120"/>
              </a:rPr>
              <a:t>Nesse tempo circulavam escritos sagrados de diferentes períodos: a Lei de Moisés, os Salmos e outros textos, além das profecias que eram registradas e preservadas.</a:t>
            </a:r>
            <a:endParaRPr lang="en-US" sz="2400" dirty="0"/>
          </a:p>
          <a:p>
            <a:pPr marL="0" indent="0" algn="l">
              <a:buNone/>
            </a:pPr>
            <a:r>
              <a:rPr lang="en-US" sz="2400" dirty="0">
                <a:solidFill>
                  <a:schemeClr val="bg1"/>
                </a:solidFill>
                <a:latin typeface="Arial" pitchFamily="34" charset="0"/>
                <a:ea typeface="Arial" pitchFamily="34" charset="-122"/>
                <a:cs typeface="Arial" pitchFamily="34" charset="-120"/>
              </a:rPr>
              <a:t>O conjunto das Escrituras foi sendo formado ao longo do tempo.</a:t>
            </a:r>
            <a:endParaRPr lang="en-US" sz="2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o"/>
          <p:cNvSpPr txBox="1"/>
          <p:nvPr/>
        </p:nvSpPr>
        <p:spPr>
          <a:xfrm>
            <a:off x="182880" y="274320"/>
            <a:ext cx="8778240" cy="6309360"/>
          </a:xfrm>
          <a:prstGeom prst="rect">
            <a:avLst/>
          </a:prstGeom>
          <a:noFill/>
          <a:ln/>
        </p:spPr>
        <p:txBody>
          <a:bodyPr wrap="square" lIns="63500" tIns="63500" rIns="63500" bIns="63500" rtlCol="0" anchor="t"/>
          <a:lstStyle/>
          <a:p>
            <a:pPr marL="0" indent="0" algn="l">
              <a:buNone/>
            </a:pPr>
            <a:r>
              <a:rPr lang="en-US" sz="2400" dirty="0">
                <a:solidFill>
                  <a:schemeClr val="bg1"/>
                </a:solidFill>
                <a:latin typeface="Arial" pitchFamily="34" charset="0"/>
                <a:ea typeface="Arial" pitchFamily="34" charset="-122"/>
                <a:cs typeface="Arial" pitchFamily="34" charset="-120"/>
              </a:rPr>
              <a:t>D</a:t>
            </a:r>
            <a:r>
              <a:rPr lang="pt-BR" sz="2400" dirty="0">
                <a:solidFill>
                  <a:schemeClr val="bg1"/>
                </a:solidFill>
                <a:latin typeface="Arial" pitchFamily="34" charset="0"/>
                <a:ea typeface="Arial" pitchFamily="34" charset="-122"/>
                <a:cs typeface="Arial" pitchFamily="34" charset="-120"/>
              </a:rPr>
              <a:t>n.</a:t>
            </a:r>
            <a:r>
              <a:rPr lang="en-US" sz="2400" dirty="0">
                <a:solidFill>
                  <a:schemeClr val="bg1"/>
                </a:solidFill>
                <a:latin typeface="Arial" pitchFamily="34" charset="0"/>
                <a:ea typeface="Arial" pitchFamily="34" charset="-122"/>
                <a:cs typeface="Arial" pitchFamily="34" charset="-120"/>
              </a:rPr>
              <a:t>9:2 não identifica todos os livros que ele tinha à disposição. Identifica, porém, a profecia de Jeremias como referência para sua compreensão dos setenta anos.</a:t>
            </a:r>
            <a:endParaRPr lang="en-US" sz="2400" dirty="0"/>
          </a:p>
          <a:p>
            <a:pPr marL="0" indent="0" algn="l">
              <a:buNone/>
            </a:pPr>
            <a:endParaRPr lang="en-US" sz="2400" dirty="0"/>
          </a:p>
          <a:p>
            <a:pPr marL="0" indent="0" algn="l">
              <a:buNone/>
            </a:pPr>
            <a:r>
              <a:rPr lang="en-US" sz="2400" dirty="0">
                <a:solidFill>
                  <a:schemeClr val="bg1"/>
                </a:solidFill>
                <a:latin typeface="Arial" pitchFamily="34" charset="0"/>
                <a:ea typeface="Arial" pitchFamily="34" charset="-122"/>
                <a:cs typeface="Arial" pitchFamily="34" charset="-120"/>
              </a:rPr>
              <a:t>O ponto central é este: Daniel não foi simplesmente ler um livro para se sentir melhor, foi consultar os escritos sagrados, procurou compreender o que Deus havia declarado e, a partir disso, voltou-se ao Senhor em oração (Dn</a:t>
            </a:r>
            <a:r>
              <a:rPr lang="pt-BR" sz="2400" dirty="0">
                <a:solidFill>
                  <a:schemeClr val="bg1"/>
                </a:solidFill>
                <a:latin typeface="Arial" pitchFamily="34" charset="0"/>
                <a:ea typeface="Arial" pitchFamily="34" charset="-122"/>
                <a:cs typeface="Arial" pitchFamily="34" charset="-120"/>
              </a:rPr>
              <a:t>.</a:t>
            </a:r>
            <a:r>
              <a:rPr lang="en-US" sz="2400" dirty="0">
                <a:solidFill>
                  <a:schemeClr val="bg1"/>
                </a:solidFill>
                <a:latin typeface="Arial" pitchFamily="34" charset="0"/>
                <a:ea typeface="Arial" pitchFamily="34" charset="-122"/>
                <a:cs typeface="Arial" pitchFamily="34" charset="-120"/>
              </a:rPr>
              <a:t>9:2-3).</a:t>
            </a:r>
            <a:endParaRPr lang="en-US" sz="2400" dirty="0"/>
          </a:p>
          <a:p>
            <a:pPr marL="0" indent="0" algn="l">
              <a:buNone/>
            </a:pPr>
            <a:endParaRPr lang="en-US" sz="2400" dirty="0"/>
          </a:p>
          <a:p>
            <a:pPr marL="0" indent="0" algn="l">
              <a:buNone/>
            </a:pPr>
            <a:r>
              <a:rPr lang="en-US" sz="2400" dirty="0">
                <a:solidFill>
                  <a:schemeClr val="bg1"/>
                </a:solidFill>
                <a:latin typeface="Arial" pitchFamily="34" charset="0"/>
                <a:ea typeface="Arial" pitchFamily="34" charset="-122"/>
                <a:cs typeface="Arial" pitchFamily="34" charset="-120"/>
              </a:rPr>
              <a:t>→  Essa é a ligação entre o estudo da Palavra e a oração nesse episódio: Daniel buscou compreender a revelação que já havia sido dada antes de apresentar sua súplica a Deus.</a:t>
            </a:r>
            <a:endParaRPr lang="en-US" sz="2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o"/>
          <p:cNvSpPr txBox="1"/>
          <p:nvPr/>
        </p:nvSpPr>
        <p:spPr>
          <a:xfrm>
            <a:off x="182880" y="274320"/>
            <a:ext cx="8778240" cy="6309360"/>
          </a:xfrm>
          <a:prstGeom prst="rect">
            <a:avLst/>
          </a:prstGeom>
          <a:noFill/>
          <a:ln/>
        </p:spPr>
        <p:txBody>
          <a:bodyPr wrap="square" lIns="63500" tIns="63500" rIns="63500" bIns="63500" rtlCol="0" anchor="t"/>
          <a:lstStyle/>
          <a:p>
            <a:pPr marL="0" indent="0" algn="l">
              <a:buNone/>
            </a:pPr>
            <a:r>
              <a:rPr lang="en-US" sz="2400" b="1" dirty="0">
                <a:solidFill>
                  <a:schemeClr val="accent1"/>
                </a:solidFill>
                <a:latin typeface="Arial" pitchFamily="34" charset="0"/>
                <a:ea typeface="Arial" pitchFamily="34" charset="-122"/>
                <a:cs typeface="Arial" pitchFamily="34" charset="-120"/>
              </a:rPr>
              <a:t>ILUSTRAÇÃO</a:t>
            </a:r>
            <a:endParaRPr lang="en-US" sz="2400" dirty="0"/>
          </a:p>
          <a:p>
            <a:pPr marL="0" indent="0" algn="l">
              <a:buNone/>
            </a:pPr>
            <a:endParaRPr lang="en-US" sz="2400" dirty="0"/>
          </a:p>
          <a:p>
            <a:pPr marL="0" indent="0" algn="l">
              <a:buNone/>
            </a:pPr>
            <a:r>
              <a:rPr lang="en-US" sz="2400" dirty="0">
                <a:solidFill>
                  <a:schemeClr val="bg1"/>
                </a:solidFill>
                <a:latin typeface="Arial" pitchFamily="34" charset="0"/>
                <a:ea typeface="Arial" pitchFamily="34" charset="-122"/>
                <a:cs typeface="Arial" pitchFamily="34" charset="-120"/>
              </a:rPr>
              <a:t>Imagine alguém que enfrenta uma situação difícil e tenta entendê-la apenas pelo que vê e sente. Suas conclusões podem ser precipitadas, porque nem sempre conseguimos enxergar toda a realidade. Daniel, porém, foi às Escrituras para compreender o que Deus já havia declarado. Ele não permitiu que as circunstâncias fossem sua única referência; buscou na Palavra o entendimento de que precisava.</a:t>
            </a:r>
            <a:endParaRPr lang="en-US" sz="2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o"/>
          <p:cNvSpPr txBox="1"/>
          <p:nvPr/>
        </p:nvSpPr>
        <p:spPr>
          <a:xfrm>
            <a:off x="182880" y="274320"/>
            <a:ext cx="8778240" cy="6309360"/>
          </a:xfrm>
          <a:prstGeom prst="rect">
            <a:avLst/>
          </a:prstGeom>
          <a:noFill/>
          <a:ln/>
        </p:spPr>
        <p:txBody>
          <a:bodyPr wrap="square" lIns="63500" tIns="63500" rIns="63500" bIns="63500" rtlCol="0" anchor="t"/>
          <a:lstStyle/>
          <a:p>
            <a:pPr marL="0" indent="0" algn="l">
              <a:buNone/>
            </a:pPr>
            <a:r>
              <a:rPr lang="en-US" sz="2400" b="1" dirty="0">
                <a:solidFill>
                  <a:schemeClr val="accent1"/>
                </a:solidFill>
                <a:latin typeface="Arial" pitchFamily="34" charset="0"/>
                <a:ea typeface="Arial" pitchFamily="34" charset="-122"/>
                <a:cs typeface="Arial" pitchFamily="34" charset="-120"/>
              </a:rPr>
              <a:t>APLICAÇÃO</a:t>
            </a:r>
            <a:endParaRPr lang="en-US" sz="2400" dirty="0"/>
          </a:p>
          <a:p>
            <a:pPr marL="0" indent="0" algn="l">
              <a:buNone/>
            </a:pPr>
            <a:endParaRPr lang="en-US" sz="2400" dirty="0"/>
          </a:p>
          <a:p>
            <a:pPr marL="0" indent="0" algn="l">
              <a:buNone/>
            </a:pPr>
            <a:r>
              <a:rPr lang="en-US" sz="2400" dirty="0">
                <a:solidFill>
                  <a:schemeClr val="bg1"/>
                </a:solidFill>
                <a:latin typeface="Arial" pitchFamily="34" charset="0"/>
                <a:ea typeface="Arial" pitchFamily="34" charset="-122"/>
                <a:cs typeface="Arial" pitchFamily="34" charset="-120"/>
              </a:rPr>
              <a:t>Antes de orar sobre uma situação difícil, examine as Escrituras e pergunte: O que Deus já revelou em sua Palavra que me ajuda a compreender essa situação? Não devemos tirar conclusões apenas pelo que vemos ou sentimos, mas buscar na Palavra o entendimento de que precisamos.</a:t>
            </a:r>
            <a:endParaRPr lang="en-US" sz="2400" dirty="0"/>
          </a:p>
          <a:p>
            <a:pPr marL="0" indent="0" algn="l">
              <a:buNone/>
            </a:pPr>
            <a:endParaRPr lang="en-US" sz="2400" dirty="0"/>
          </a:p>
          <a:p>
            <a:pPr marL="0" indent="0" algn="l">
              <a:buNone/>
            </a:pPr>
            <a:endParaRPr lang="en-US" sz="2400" dirty="0"/>
          </a:p>
          <a:p>
            <a:pPr marL="0" indent="0" algn="l">
              <a:buNone/>
            </a:pPr>
            <a:r>
              <a:rPr lang="en-US" sz="2400" b="1" dirty="0">
                <a:solidFill>
                  <a:schemeClr val="accent1"/>
                </a:solidFill>
                <a:latin typeface="Arial" pitchFamily="34" charset="0"/>
                <a:ea typeface="Arial" pitchFamily="34" charset="-122"/>
                <a:cs typeface="Arial" pitchFamily="34" charset="-120"/>
              </a:rPr>
              <a:t>FRASE-CHAVE</a:t>
            </a:r>
            <a:endParaRPr lang="en-US" sz="2400" dirty="0"/>
          </a:p>
          <a:p>
            <a:pPr marL="0" indent="0" algn="l">
              <a:buNone/>
            </a:pPr>
            <a:r>
              <a:rPr lang="en-US" sz="2400" b="1" dirty="0">
                <a:solidFill>
                  <a:schemeClr val="bg1"/>
                </a:solidFill>
                <a:latin typeface="Arial" pitchFamily="34" charset="0"/>
                <a:ea typeface="Arial" pitchFamily="34" charset="-122"/>
                <a:cs typeface="Arial" pitchFamily="34" charset="-120"/>
              </a:rPr>
              <a:t>→  A oração de Daniel começou quando ele deu atenção ao que Deus já havia dito.</a:t>
            </a:r>
            <a:endParaRPr lang="en-US" sz="2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1371600"/>
            <a:ext cx="8229600" cy="4114800"/>
          </a:xfrm>
          <a:prstGeom prst="rect">
            <a:avLst/>
          </a:prstGeom>
          <a:noFill/>
          <a:ln/>
        </p:spPr>
        <p:txBody>
          <a:bodyPr wrap="square" rtlCol="0" anchor="ctr"/>
          <a:lstStyle/>
          <a:p>
            <a:pPr marL="0" indent="0" algn="ctr">
              <a:buNone/>
            </a:pPr>
            <a:r>
              <a:rPr lang="en-US" sz="4400" b="1" dirty="0">
                <a:solidFill>
                  <a:schemeClr val="accent1"/>
                </a:solidFill>
                <a:latin typeface="Arial" pitchFamily="34" charset="0"/>
                <a:ea typeface="Arial" pitchFamily="34" charset="-122"/>
                <a:cs typeface="Arial" pitchFamily="34" charset="-120"/>
              </a:rPr>
              <a:t>I</a:t>
            </a:r>
            <a:r>
              <a:rPr lang="pt-BR" sz="4400" b="1" dirty="0">
                <a:solidFill>
                  <a:schemeClr val="accent1"/>
                </a:solidFill>
                <a:latin typeface="Arial" pitchFamily="34" charset="0"/>
                <a:ea typeface="Arial" pitchFamily="34" charset="-122"/>
                <a:cs typeface="Arial" pitchFamily="34" charset="-120"/>
              </a:rPr>
              <a:t>I</a:t>
            </a:r>
            <a:r>
              <a:rPr lang="en-US" sz="4400" b="1" dirty="0">
                <a:solidFill>
                  <a:schemeClr val="accent1"/>
                </a:solidFill>
                <a:latin typeface="Arial" pitchFamily="34" charset="0"/>
                <a:ea typeface="Arial" pitchFamily="34" charset="-122"/>
                <a:cs typeface="Arial" pitchFamily="34" charset="-120"/>
              </a:rPr>
              <a:t>. ORAÇÃO CENTRADA NO CARÁTER DE DEUS</a:t>
            </a:r>
            <a:endParaRPr lang="en-US" sz="4400" dirty="0"/>
          </a:p>
          <a:p>
            <a:pPr marL="0" indent="0" algn="ctr">
              <a:buNone/>
            </a:pPr>
            <a:endParaRPr lang="en-US" sz="4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o"/>
          <p:cNvSpPr txBox="1"/>
          <p:nvPr/>
        </p:nvSpPr>
        <p:spPr>
          <a:xfrm>
            <a:off x="182880" y="274320"/>
            <a:ext cx="8778240" cy="6309360"/>
          </a:xfrm>
          <a:prstGeom prst="rect">
            <a:avLst/>
          </a:prstGeom>
          <a:noFill/>
          <a:ln/>
        </p:spPr>
        <p:txBody>
          <a:bodyPr wrap="square" lIns="63500" tIns="63500" rIns="63500" bIns="63500" rtlCol="0" anchor="t"/>
          <a:lstStyle/>
          <a:p>
            <a:pPr marL="0" indent="0" algn="l">
              <a:buNone/>
            </a:pPr>
            <a:r>
              <a:rPr lang="en-US" sz="2400" b="1" dirty="0">
                <a:solidFill>
                  <a:schemeClr val="accent1"/>
                </a:solidFill>
                <a:latin typeface="Arial" pitchFamily="34" charset="0"/>
                <a:ea typeface="Arial" pitchFamily="34" charset="-122"/>
                <a:cs typeface="Arial" pitchFamily="34" charset="-120"/>
              </a:rPr>
              <a:t>VERSÍCULO BASE</a:t>
            </a:r>
            <a:endParaRPr lang="en-US" sz="2400" dirty="0"/>
          </a:p>
          <a:p>
            <a:pPr marL="0" indent="0" algn="l">
              <a:buNone/>
            </a:pPr>
            <a:endParaRPr lang="en-US" sz="2400" dirty="0"/>
          </a:p>
          <a:p>
            <a:pPr marL="0" indent="0" algn="l">
              <a:buNone/>
            </a:pPr>
            <a:r>
              <a:rPr lang="en-US" sz="2400" dirty="0">
                <a:solidFill>
                  <a:schemeClr val="bg1"/>
                </a:solidFill>
                <a:latin typeface="Arial" pitchFamily="34" charset="0"/>
                <a:ea typeface="Arial" pitchFamily="34" charset="-122"/>
                <a:cs typeface="Arial" pitchFamily="34" charset="-120"/>
              </a:rPr>
              <a:t> D</a:t>
            </a:r>
            <a:r>
              <a:rPr lang="pt-BR" sz="2400" dirty="0">
                <a:solidFill>
                  <a:schemeClr val="bg1"/>
                </a:solidFill>
                <a:latin typeface="Arial" pitchFamily="34" charset="0"/>
                <a:ea typeface="Arial" pitchFamily="34" charset="-122"/>
                <a:cs typeface="Arial" pitchFamily="34" charset="-120"/>
              </a:rPr>
              <a:t>n.</a:t>
            </a:r>
            <a:r>
              <a:rPr lang="en-US" sz="2400" dirty="0">
                <a:solidFill>
                  <a:schemeClr val="bg1"/>
                </a:solidFill>
                <a:latin typeface="Arial" pitchFamily="34" charset="0"/>
                <a:ea typeface="Arial" pitchFamily="34" charset="-122"/>
                <a:cs typeface="Arial" pitchFamily="34" charset="-120"/>
              </a:rPr>
              <a:t>9:4. </a:t>
            </a:r>
            <a:r>
              <a:rPr lang="pt-BR" sz="2400" dirty="0">
                <a:solidFill>
                  <a:schemeClr val="bg1"/>
                </a:solidFill>
                <a:latin typeface="Arial" pitchFamily="34" charset="0"/>
                <a:ea typeface="Arial" pitchFamily="34" charset="-122"/>
                <a:cs typeface="Arial" pitchFamily="34" charset="-120"/>
              </a:rPr>
              <a:t>“</a:t>
            </a:r>
            <a:r>
              <a:rPr lang="en-US" sz="2400" dirty="0" err="1">
                <a:solidFill>
                  <a:schemeClr val="bg1"/>
                </a:solidFill>
                <a:latin typeface="Arial" pitchFamily="34" charset="0"/>
                <a:ea typeface="Arial" pitchFamily="34" charset="-122"/>
                <a:cs typeface="Arial" pitchFamily="34" charset="-120"/>
              </a:rPr>
              <a:t>Orei</a:t>
            </a:r>
            <a:r>
              <a:rPr lang="en-US" sz="2400" dirty="0">
                <a:solidFill>
                  <a:schemeClr val="bg1"/>
                </a:solidFill>
                <a:latin typeface="Arial" pitchFamily="34" charset="0"/>
                <a:ea typeface="Arial" pitchFamily="34" charset="-122"/>
                <a:cs typeface="Arial" pitchFamily="34" charset="-120"/>
              </a:rPr>
              <a:t> </a:t>
            </a:r>
            <a:r>
              <a:rPr lang="en-US" sz="2400" dirty="0" err="1">
                <a:solidFill>
                  <a:schemeClr val="bg1"/>
                </a:solidFill>
                <a:latin typeface="Arial" pitchFamily="34" charset="0"/>
                <a:ea typeface="Arial" pitchFamily="34" charset="-122"/>
                <a:cs typeface="Arial" pitchFamily="34" charset="-120"/>
              </a:rPr>
              <a:t>ao</a:t>
            </a:r>
            <a:r>
              <a:rPr lang="en-US" sz="2400" dirty="0">
                <a:solidFill>
                  <a:schemeClr val="bg1"/>
                </a:solidFill>
                <a:latin typeface="Arial" pitchFamily="34" charset="0"/>
                <a:ea typeface="Arial" pitchFamily="34" charset="-122"/>
                <a:cs typeface="Arial" pitchFamily="34" charset="-120"/>
              </a:rPr>
              <a:t> </a:t>
            </a:r>
            <a:r>
              <a:rPr lang="en-US" sz="2400" dirty="0" err="1">
                <a:solidFill>
                  <a:schemeClr val="bg1"/>
                </a:solidFill>
                <a:latin typeface="Arial" pitchFamily="34" charset="0"/>
                <a:ea typeface="Arial" pitchFamily="34" charset="-122"/>
                <a:cs typeface="Arial" pitchFamily="34" charset="-120"/>
              </a:rPr>
              <a:t>Senhor</a:t>
            </a:r>
            <a:r>
              <a:rPr lang="en-US" sz="2400" dirty="0">
                <a:solidFill>
                  <a:schemeClr val="bg1"/>
                </a:solidFill>
                <a:latin typeface="Arial" pitchFamily="34" charset="0"/>
                <a:ea typeface="Arial" pitchFamily="34" charset="-122"/>
                <a:cs typeface="Arial" pitchFamily="34" charset="-120"/>
              </a:rPr>
              <a:t>, </a:t>
            </a:r>
            <a:r>
              <a:rPr lang="en-US" sz="2400" dirty="0" err="1">
                <a:solidFill>
                  <a:schemeClr val="bg1"/>
                </a:solidFill>
                <a:latin typeface="Arial" pitchFamily="34" charset="0"/>
                <a:ea typeface="Arial" pitchFamily="34" charset="-122"/>
                <a:cs typeface="Arial" pitchFamily="34" charset="-120"/>
              </a:rPr>
              <a:t>meu</a:t>
            </a:r>
            <a:r>
              <a:rPr lang="en-US" sz="2400" dirty="0">
                <a:solidFill>
                  <a:schemeClr val="bg1"/>
                </a:solidFill>
                <a:latin typeface="Arial" pitchFamily="34" charset="0"/>
                <a:ea typeface="Arial" pitchFamily="34" charset="-122"/>
                <a:cs typeface="Arial" pitchFamily="34" charset="-120"/>
              </a:rPr>
              <a:t> Deus, </a:t>
            </a:r>
            <a:r>
              <a:rPr lang="en-US" sz="2400" dirty="0" err="1">
                <a:solidFill>
                  <a:schemeClr val="bg1"/>
                </a:solidFill>
                <a:latin typeface="Arial" pitchFamily="34" charset="0"/>
                <a:ea typeface="Arial" pitchFamily="34" charset="-122"/>
                <a:cs typeface="Arial" pitchFamily="34" charset="-120"/>
              </a:rPr>
              <a:t>confessei</a:t>
            </a:r>
            <a:r>
              <a:rPr lang="en-US" sz="2400" dirty="0">
                <a:solidFill>
                  <a:schemeClr val="bg1"/>
                </a:solidFill>
                <a:latin typeface="Arial" pitchFamily="34" charset="0"/>
                <a:ea typeface="Arial" pitchFamily="34" charset="-122"/>
                <a:cs typeface="Arial" pitchFamily="34" charset="-120"/>
              </a:rPr>
              <a:t> e </a:t>
            </a:r>
            <a:r>
              <a:rPr lang="en-US" sz="2400" dirty="0" err="1">
                <a:solidFill>
                  <a:schemeClr val="bg1"/>
                </a:solidFill>
                <a:latin typeface="Arial" pitchFamily="34" charset="0"/>
                <a:ea typeface="Arial" pitchFamily="34" charset="-122"/>
                <a:cs typeface="Arial" pitchFamily="34" charset="-120"/>
              </a:rPr>
              <a:t>disse</a:t>
            </a:r>
            <a:r>
              <a:rPr lang="en-US" sz="2400" dirty="0">
                <a:solidFill>
                  <a:schemeClr val="bg1"/>
                </a:solidFill>
                <a:latin typeface="Arial" pitchFamily="34" charset="0"/>
                <a:ea typeface="Arial" pitchFamily="34" charset="-122"/>
                <a:cs typeface="Arial" pitchFamily="34" charset="-120"/>
              </a:rPr>
              <a:t>: ah! </a:t>
            </a:r>
            <a:r>
              <a:rPr lang="en-US" sz="2400" dirty="0" err="1">
                <a:solidFill>
                  <a:schemeClr val="bg1"/>
                </a:solidFill>
                <a:latin typeface="Arial" pitchFamily="34" charset="0"/>
                <a:ea typeface="Arial" pitchFamily="34" charset="-122"/>
                <a:cs typeface="Arial" pitchFamily="34" charset="-120"/>
              </a:rPr>
              <a:t>Senhor</a:t>
            </a:r>
            <a:r>
              <a:rPr lang="en-US" sz="2400" dirty="0">
                <a:solidFill>
                  <a:schemeClr val="bg1"/>
                </a:solidFill>
                <a:latin typeface="Arial" pitchFamily="34" charset="0"/>
                <a:ea typeface="Arial" pitchFamily="34" charset="-122"/>
                <a:cs typeface="Arial" pitchFamily="34" charset="-120"/>
              </a:rPr>
              <a:t>! Deus grande e </a:t>
            </a:r>
            <a:r>
              <a:rPr lang="en-US" sz="2400" dirty="0" err="1">
                <a:solidFill>
                  <a:schemeClr val="bg1"/>
                </a:solidFill>
                <a:latin typeface="Arial" pitchFamily="34" charset="0"/>
                <a:ea typeface="Arial" pitchFamily="34" charset="-122"/>
                <a:cs typeface="Arial" pitchFamily="34" charset="-120"/>
              </a:rPr>
              <a:t>temível</a:t>
            </a:r>
            <a:r>
              <a:rPr lang="en-US" sz="2400" dirty="0">
                <a:solidFill>
                  <a:schemeClr val="bg1"/>
                </a:solidFill>
                <a:latin typeface="Arial" pitchFamily="34" charset="0"/>
                <a:ea typeface="Arial" pitchFamily="34" charset="-122"/>
                <a:cs typeface="Arial" pitchFamily="34" charset="-120"/>
              </a:rPr>
              <a:t>, </a:t>
            </a:r>
            <a:r>
              <a:rPr lang="en-US" sz="2400" dirty="0" err="1">
                <a:solidFill>
                  <a:schemeClr val="bg1"/>
                </a:solidFill>
                <a:latin typeface="Arial" pitchFamily="34" charset="0"/>
                <a:ea typeface="Arial" pitchFamily="34" charset="-122"/>
                <a:cs typeface="Arial" pitchFamily="34" charset="-120"/>
              </a:rPr>
              <a:t>que</a:t>
            </a:r>
            <a:r>
              <a:rPr lang="en-US" sz="2400" dirty="0">
                <a:solidFill>
                  <a:schemeClr val="bg1"/>
                </a:solidFill>
                <a:latin typeface="Arial" pitchFamily="34" charset="0"/>
                <a:ea typeface="Arial" pitchFamily="34" charset="-122"/>
                <a:cs typeface="Arial" pitchFamily="34" charset="-120"/>
              </a:rPr>
              <a:t> </a:t>
            </a:r>
            <a:r>
              <a:rPr lang="en-US" sz="2400" dirty="0" err="1">
                <a:solidFill>
                  <a:schemeClr val="bg1"/>
                </a:solidFill>
                <a:latin typeface="Arial" pitchFamily="34" charset="0"/>
                <a:ea typeface="Arial" pitchFamily="34" charset="-122"/>
                <a:cs typeface="Arial" pitchFamily="34" charset="-120"/>
              </a:rPr>
              <a:t>guardas</a:t>
            </a:r>
            <a:r>
              <a:rPr lang="en-US" sz="2400" dirty="0">
                <a:solidFill>
                  <a:schemeClr val="bg1"/>
                </a:solidFill>
                <a:latin typeface="Arial" pitchFamily="34" charset="0"/>
                <a:ea typeface="Arial" pitchFamily="34" charset="-122"/>
                <a:cs typeface="Arial" pitchFamily="34" charset="-120"/>
              </a:rPr>
              <a:t> a </a:t>
            </a:r>
            <a:r>
              <a:rPr lang="en-US" sz="2400" dirty="0" err="1">
                <a:solidFill>
                  <a:schemeClr val="bg1"/>
                </a:solidFill>
                <a:latin typeface="Arial" pitchFamily="34" charset="0"/>
                <a:ea typeface="Arial" pitchFamily="34" charset="-122"/>
                <a:cs typeface="Arial" pitchFamily="34" charset="-120"/>
              </a:rPr>
              <a:t>aliança</a:t>
            </a:r>
            <a:r>
              <a:rPr lang="en-US" sz="2400" dirty="0">
                <a:solidFill>
                  <a:schemeClr val="bg1"/>
                </a:solidFill>
                <a:latin typeface="Arial" pitchFamily="34" charset="0"/>
                <a:ea typeface="Arial" pitchFamily="34" charset="-122"/>
                <a:cs typeface="Arial" pitchFamily="34" charset="-120"/>
              </a:rPr>
              <a:t> e a </a:t>
            </a:r>
            <a:r>
              <a:rPr lang="en-US" sz="2400" dirty="0" err="1">
                <a:solidFill>
                  <a:schemeClr val="bg1"/>
                </a:solidFill>
                <a:latin typeface="Arial" pitchFamily="34" charset="0"/>
                <a:ea typeface="Arial" pitchFamily="34" charset="-122"/>
                <a:cs typeface="Arial" pitchFamily="34" charset="-120"/>
              </a:rPr>
              <a:t>misericórdia</a:t>
            </a:r>
            <a:r>
              <a:rPr lang="en-US" sz="2400" dirty="0">
                <a:solidFill>
                  <a:schemeClr val="bg1"/>
                </a:solidFill>
                <a:latin typeface="Arial" pitchFamily="34" charset="0"/>
                <a:ea typeface="Arial" pitchFamily="34" charset="-122"/>
                <a:cs typeface="Arial" pitchFamily="34" charset="-120"/>
              </a:rPr>
              <a:t> para com os </a:t>
            </a:r>
            <a:r>
              <a:rPr lang="en-US" sz="2400" dirty="0" err="1">
                <a:solidFill>
                  <a:schemeClr val="bg1"/>
                </a:solidFill>
                <a:latin typeface="Arial" pitchFamily="34" charset="0"/>
                <a:ea typeface="Arial" pitchFamily="34" charset="-122"/>
                <a:cs typeface="Arial" pitchFamily="34" charset="-120"/>
              </a:rPr>
              <a:t>que</a:t>
            </a:r>
            <a:r>
              <a:rPr lang="en-US" sz="2400" dirty="0">
                <a:solidFill>
                  <a:schemeClr val="bg1"/>
                </a:solidFill>
                <a:latin typeface="Arial" pitchFamily="34" charset="0"/>
                <a:ea typeface="Arial" pitchFamily="34" charset="-122"/>
                <a:cs typeface="Arial" pitchFamily="34" charset="-120"/>
              </a:rPr>
              <a:t> </a:t>
            </a:r>
            <a:r>
              <a:rPr lang="en-US" sz="2400" dirty="0" err="1">
                <a:solidFill>
                  <a:schemeClr val="bg1"/>
                </a:solidFill>
                <a:latin typeface="Arial" pitchFamily="34" charset="0"/>
                <a:ea typeface="Arial" pitchFamily="34" charset="-122"/>
                <a:cs typeface="Arial" pitchFamily="34" charset="-120"/>
              </a:rPr>
              <a:t>te</a:t>
            </a:r>
            <a:r>
              <a:rPr lang="en-US" sz="2400" dirty="0">
                <a:solidFill>
                  <a:schemeClr val="bg1"/>
                </a:solidFill>
                <a:latin typeface="Arial" pitchFamily="34" charset="0"/>
                <a:ea typeface="Arial" pitchFamily="34" charset="-122"/>
                <a:cs typeface="Arial" pitchFamily="34" charset="-120"/>
              </a:rPr>
              <a:t> </a:t>
            </a:r>
            <a:r>
              <a:rPr lang="en-US" sz="2400" dirty="0" err="1">
                <a:solidFill>
                  <a:schemeClr val="bg1"/>
                </a:solidFill>
                <a:latin typeface="Arial" pitchFamily="34" charset="0"/>
                <a:ea typeface="Arial" pitchFamily="34" charset="-122"/>
                <a:cs typeface="Arial" pitchFamily="34" charset="-120"/>
              </a:rPr>
              <a:t>amam</a:t>
            </a:r>
            <a:r>
              <a:rPr lang="en-US" sz="2400" dirty="0">
                <a:solidFill>
                  <a:schemeClr val="bg1"/>
                </a:solidFill>
                <a:latin typeface="Arial" pitchFamily="34" charset="0"/>
                <a:ea typeface="Arial" pitchFamily="34" charset="-122"/>
                <a:cs typeface="Arial" pitchFamily="34" charset="-120"/>
              </a:rPr>
              <a:t> e </a:t>
            </a:r>
            <a:r>
              <a:rPr lang="en-US" sz="2400" dirty="0" err="1">
                <a:solidFill>
                  <a:schemeClr val="bg1"/>
                </a:solidFill>
                <a:latin typeface="Arial" pitchFamily="34" charset="0"/>
                <a:ea typeface="Arial" pitchFamily="34" charset="-122"/>
                <a:cs typeface="Arial" pitchFamily="34" charset="-120"/>
              </a:rPr>
              <a:t>guardam</a:t>
            </a:r>
            <a:r>
              <a:rPr lang="en-US" sz="2400" dirty="0">
                <a:solidFill>
                  <a:schemeClr val="bg1"/>
                </a:solidFill>
                <a:latin typeface="Arial" pitchFamily="34" charset="0"/>
                <a:ea typeface="Arial" pitchFamily="34" charset="-122"/>
                <a:cs typeface="Arial" pitchFamily="34" charset="-120"/>
              </a:rPr>
              <a:t> os </a:t>
            </a:r>
            <a:r>
              <a:rPr lang="en-US" sz="2400" dirty="0" err="1">
                <a:solidFill>
                  <a:schemeClr val="bg1"/>
                </a:solidFill>
                <a:latin typeface="Arial" pitchFamily="34" charset="0"/>
                <a:ea typeface="Arial" pitchFamily="34" charset="-122"/>
                <a:cs typeface="Arial" pitchFamily="34" charset="-120"/>
              </a:rPr>
              <a:t>teus</a:t>
            </a:r>
            <a:r>
              <a:rPr lang="en-US" sz="2400" dirty="0">
                <a:solidFill>
                  <a:schemeClr val="bg1"/>
                </a:solidFill>
                <a:latin typeface="Arial" pitchFamily="34" charset="0"/>
                <a:ea typeface="Arial" pitchFamily="34" charset="-122"/>
                <a:cs typeface="Arial" pitchFamily="34" charset="-120"/>
              </a:rPr>
              <a:t> </a:t>
            </a:r>
            <a:r>
              <a:rPr lang="en-US" sz="2400" dirty="0" err="1">
                <a:solidFill>
                  <a:schemeClr val="bg1"/>
                </a:solidFill>
                <a:latin typeface="Arial" pitchFamily="34" charset="0"/>
                <a:ea typeface="Arial" pitchFamily="34" charset="-122"/>
                <a:cs typeface="Arial" pitchFamily="34" charset="-120"/>
              </a:rPr>
              <a:t>mandamentos</a:t>
            </a:r>
            <a:r>
              <a:rPr lang="en-US" sz="2400" dirty="0">
                <a:solidFill>
                  <a:schemeClr val="bg1"/>
                </a:solidFill>
                <a:latin typeface="Arial" pitchFamily="34" charset="0"/>
                <a:ea typeface="Arial" pitchFamily="34" charset="-122"/>
                <a:cs typeface="Arial" pitchFamily="34" charset="-120"/>
              </a:rPr>
              <a:t>;</a:t>
            </a:r>
            <a:r>
              <a:rPr lang="pt-BR" sz="2400" dirty="0">
                <a:solidFill>
                  <a:schemeClr val="bg1"/>
                </a:solidFill>
                <a:latin typeface="Arial" pitchFamily="34" charset="0"/>
                <a:ea typeface="Arial" pitchFamily="34" charset="-122"/>
                <a:cs typeface="Arial" pitchFamily="34" charset="-120"/>
              </a:rPr>
              <a:t>”</a:t>
            </a:r>
          </a:p>
          <a:p>
            <a:pPr marL="0" indent="0" algn="l">
              <a:buNone/>
            </a:pPr>
            <a:endParaRPr lang="pt-BR" sz="2400" dirty="0">
              <a:solidFill>
                <a:schemeClr val="bg1"/>
              </a:solidFill>
              <a:latin typeface="Arial" pitchFamily="34" charset="0"/>
              <a:ea typeface="Arial" pitchFamily="34" charset="-122"/>
              <a:cs typeface="Arial" pitchFamily="34" charset="-120"/>
            </a:endParaRPr>
          </a:p>
          <a:p>
            <a:pPr marL="0" indent="0" algn="l">
              <a:buNone/>
            </a:pPr>
            <a:r>
              <a:rPr lang="en-US" sz="2400" dirty="0">
                <a:solidFill>
                  <a:schemeClr val="bg1"/>
                </a:solidFill>
                <a:latin typeface="Arial" pitchFamily="34" charset="0"/>
                <a:ea typeface="Arial" pitchFamily="34" charset="-122"/>
                <a:cs typeface="Arial" pitchFamily="34" charset="-120"/>
              </a:rPr>
              <a:t>Daniel dirige sua oração ao Senhor, reconhecendo sua grandeza, sua aliança e sua </a:t>
            </a:r>
            <a:r>
              <a:rPr lang="en-US" sz="2400" dirty="0" err="1">
                <a:solidFill>
                  <a:schemeClr val="bg1"/>
                </a:solidFill>
                <a:latin typeface="Arial" pitchFamily="34" charset="0"/>
                <a:ea typeface="Arial" pitchFamily="34" charset="-122"/>
                <a:cs typeface="Arial" pitchFamily="34" charset="-120"/>
              </a:rPr>
              <a:t>misericórdia</a:t>
            </a:r>
            <a:r>
              <a:rPr lang="en-US" sz="2400" dirty="0">
                <a:solidFill>
                  <a:schemeClr val="bg1"/>
                </a:solidFill>
                <a:latin typeface="Arial" pitchFamily="34" charset="0"/>
                <a:ea typeface="Arial" pitchFamily="34" charset="-122"/>
                <a:cs typeface="Arial" pitchFamily="34" charset="-120"/>
              </a:rPr>
              <a:t>.</a:t>
            </a:r>
            <a:endParaRPr lang="pt-BR" sz="2400" dirty="0">
              <a:solidFill>
                <a:schemeClr val="bg1"/>
              </a:solidFill>
              <a:latin typeface="Arial" pitchFamily="34" charset="0"/>
              <a:ea typeface="Arial" pitchFamily="34" charset="-122"/>
              <a:cs typeface="Arial" pitchFamily="34" charset="-120"/>
            </a:endParaRPr>
          </a:p>
          <a:p>
            <a:pPr marL="0" indent="0" algn="l">
              <a:buNone/>
            </a:pPr>
            <a:endParaRPr lang="en-US" sz="2400" dirty="0"/>
          </a:p>
          <a:p>
            <a:pPr marL="0" indent="0" algn="l">
              <a:buNone/>
            </a:pPr>
            <a:endParaRPr lang="en-US" sz="2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o"/>
          <p:cNvSpPr txBox="1"/>
          <p:nvPr/>
        </p:nvSpPr>
        <p:spPr>
          <a:xfrm>
            <a:off x="457200" y="685800"/>
            <a:ext cx="8229600" cy="5486400"/>
          </a:xfrm>
          <a:prstGeom prst="rect">
            <a:avLst/>
          </a:prstGeom>
          <a:noFill/>
          <a:ln/>
        </p:spPr>
        <p:txBody>
          <a:bodyPr wrap="square" lIns="63500" tIns="63500" rIns="63500" bIns="63500" rtlCol="0" anchor="ctr"/>
          <a:lstStyle/>
          <a:p>
            <a:pPr marL="0" indent="0" algn="l">
              <a:buNone/>
            </a:pPr>
            <a:r>
              <a:rPr lang="en-US" sz="2400" b="1" dirty="0">
                <a:solidFill>
                  <a:schemeClr val="accent1"/>
                </a:solidFill>
                <a:latin typeface="Arial" pitchFamily="34" charset="0"/>
                <a:ea typeface="Arial" pitchFamily="34" charset="-122"/>
                <a:cs typeface="Arial" pitchFamily="34" charset="-120"/>
              </a:rPr>
              <a:t>OBSERVAÇÃO</a:t>
            </a:r>
            <a:endParaRPr lang="en-US" sz="2400" dirty="0"/>
          </a:p>
          <a:p>
            <a:pPr marL="0" indent="0" algn="l">
              <a:buNone/>
            </a:pPr>
            <a:endParaRPr lang="en-US" sz="2400" dirty="0"/>
          </a:p>
          <a:p>
            <a:pPr marL="0" indent="0" algn="l">
              <a:buNone/>
            </a:pPr>
            <a:r>
              <a:rPr lang="en-US" sz="2400" dirty="0">
                <a:solidFill>
                  <a:schemeClr val="bg1"/>
                </a:solidFill>
                <a:latin typeface="Arial" pitchFamily="34" charset="0"/>
                <a:ea typeface="Arial" pitchFamily="34" charset="-122"/>
                <a:cs typeface="Arial" pitchFamily="34" charset="-120"/>
              </a:rPr>
              <a:t>Daniel inicia a oração reconhecendo quem Deus é</a:t>
            </a:r>
            <a:r>
              <a:rPr lang="pt-BR" sz="2400" dirty="0">
                <a:solidFill>
                  <a:schemeClr val="bg1"/>
                </a:solidFill>
                <a:latin typeface="Arial" pitchFamily="34" charset="0"/>
                <a:ea typeface="Arial" pitchFamily="34" charset="-122"/>
                <a:cs typeface="Arial" pitchFamily="34" charset="-120"/>
              </a:rPr>
              <a:t>, mas antes </a:t>
            </a:r>
            <a:r>
              <a:rPr lang="en-US" sz="2400" dirty="0">
                <a:solidFill>
                  <a:schemeClr val="bg1"/>
                </a:solidFill>
                <a:latin typeface="Arial" pitchFamily="34" charset="0"/>
                <a:ea typeface="Arial" pitchFamily="34" charset="-122"/>
                <a:cs typeface="Arial" pitchFamily="34" charset="-120"/>
              </a:rPr>
              <a:t>de apresentar suas necessidades, ele afirma a grandeza do Senhor e lembra sua fidelidade à aliança. </a:t>
            </a:r>
            <a:endParaRPr lang="pt-BR" sz="2400" dirty="0">
              <a:solidFill>
                <a:schemeClr val="bg1"/>
              </a:solidFill>
              <a:latin typeface="Arial" pitchFamily="34" charset="0"/>
              <a:ea typeface="Arial" pitchFamily="34" charset="-122"/>
              <a:cs typeface="Arial" pitchFamily="34" charset="-120"/>
            </a:endParaRPr>
          </a:p>
          <a:p>
            <a:pPr marL="0" indent="0" algn="l">
              <a:buNone/>
            </a:pPr>
            <a:r>
              <a:rPr lang="en-US" sz="2400" dirty="0">
                <a:solidFill>
                  <a:schemeClr val="bg1"/>
                </a:solidFill>
                <a:latin typeface="Arial" pitchFamily="34" charset="0"/>
                <a:ea typeface="Arial" pitchFamily="34" charset="-122"/>
                <a:cs typeface="Arial" pitchFamily="34" charset="-120"/>
              </a:rPr>
              <a:t>A oração, portanto, não começa com o ser humano no centro: começa com Deus.</a:t>
            </a:r>
            <a:endParaRPr lang="en-US" sz="2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o"/>
          <p:cNvSpPr txBox="1"/>
          <p:nvPr/>
        </p:nvSpPr>
        <p:spPr>
          <a:xfrm>
            <a:off x="182880" y="274320"/>
            <a:ext cx="8778240" cy="6309360"/>
          </a:xfrm>
          <a:prstGeom prst="rect">
            <a:avLst/>
          </a:prstGeom>
          <a:noFill/>
          <a:ln/>
        </p:spPr>
        <p:txBody>
          <a:bodyPr wrap="square" lIns="63500" tIns="63500" rIns="63500" bIns="63500" rtlCol="0" anchor="t"/>
          <a:lstStyle/>
          <a:p>
            <a:pPr marL="0" indent="0" algn="l">
              <a:buNone/>
            </a:pPr>
            <a:r>
              <a:rPr lang="en-US" sz="2400" dirty="0">
                <a:solidFill>
                  <a:schemeClr val="bg1"/>
                </a:solidFill>
                <a:latin typeface="Arial" pitchFamily="34" charset="0"/>
                <a:ea typeface="Arial" pitchFamily="34" charset="-122"/>
                <a:cs typeface="Arial" pitchFamily="34" charset="-120"/>
              </a:rPr>
              <a:t>O material da lição ressalta que não existem orações sem algum entendimento de quem é aquele a quem nos dirigimos. Se nossa visão de Deus é formada apenas pelos nossos desejos, tentaremos fazer da oração um meio de conseguir o que queremos. Quando conhecemos o Deus revelado nas Escrituras, aprendemos a orar com reverência e submissão.</a:t>
            </a:r>
            <a:endParaRPr lang="en-US" sz="2400" dirty="0"/>
          </a:p>
          <a:p>
            <a:pPr marL="0" indent="0" algn="l">
              <a:buNone/>
            </a:pPr>
            <a:endParaRPr lang="en-US" sz="2400" dirty="0"/>
          </a:p>
          <a:p>
            <a:pPr marL="0" indent="0" algn="l">
              <a:buNone/>
            </a:pPr>
            <a:r>
              <a:rPr lang="en-US" sz="2400" dirty="0">
                <a:solidFill>
                  <a:schemeClr val="bg1"/>
                </a:solidFill>
                <a:latin typeface="Arial" pitchFamily="34" charset="0"/>
                <a:ea typeface="Arial" pitchFamily="34" charset="-122"/>
                <a:cs typeface="Arial" pitchFamily="34" charset="-120"/>
              </a:rPr>
              <a:t>A lição também destaca que ouvir precede falar. Aprendemos a orar à medida que ouvimos o que Deus comunica por sua Palavra. Por isso, leitura bíblica e oração caminham juntas: a Escritura nos mostra o caráter de Deus, e a oração é uma resposta a essa revelação.</a:t>
            </a:r>
            <a:endParaRPr lang="en-US" sz="2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o"/>
          <p:cNvSpPr txBox="1"/>
          <p:nvPr/>
        </p:nvSpPr>
        <p:spPr>
          <a:xfrm>
            <a:off x="182880" y="274320"/>
            <a:ext cx="8778240" cy="6309360"/>
          </a:xfrm>
          <a:prstGeom prst="rect">
            <a:avLst/>
          </a:prstGeom>
          <a:noFill/>
          <a:ln/>
        </p:spPr>
        <p:txBody>
          <a:bodyPr wrap="square" lIns="63500" tIns="63500" rIns="63500" bIns="63500" rtlCol="0" anchor="t"/>
          <a:lstStyle/>
          <a:p>
            <a:pPr marL="0" indent="0" algn="l">
              <a:buNone/>
            </a:pPr>
            <a:r>
              <a:rPr lang="en-US" sz="2400" b="1" dirty="0">
                <a:solidFill>
                  <a:schemeClr val="accent1"/>
                </a:solidFill>
                <a:latin typeface="Arial" pitchFamily="34" charset="0"/>
                <a:ea typeface="Arial" pitchFamily="34" charset="-122"/>
                <a:cs typeface="Arial" pitchFamily="34" charset="-120"/>
              </a:rPr>
              <a:t>ILUSTRAÇÃO</a:t>
            </a:r>
            <a:endParaRPr lang="en-US" sz="2400" dirty="0"/>
          </a:p>
          <a:p>
            <a:pPr marL="0" indent="0" algn="l">
              <a:buNone/>
            </a:pPr>
            <a:endParaRPr lang="en-US" sz="2400" dirty="0"/>
          </a:p>
          <a:p>
            <a:pPr marL="0" indent="0" algn="l">
              <a:buNone/>
            </a:pPr>
            <a:r>
              <a:rPr lang="en-US" sz="2400" dirty="0">
                <a:solidFill>
                  <a:schemeClr val="bg1"/>
                </a:solidFill>
                <a:latin typeface="Arial" pitchFamily="34" charset="0"/>
                <a:ea typeface="Arial" pitchFamily="34" charset="-122"/>
                <a:cs typeface="Arial" pitchFamily="34" charset="-120"/>
              </a:rPr>
              <a:t>Uma criança aprende a conversar com seu pai não apenas decorando frases, mas ouvindo-o e conhecendo seu modo de agir. De maneira semelhante, a oração amadurece quando conhecemos, pela Palavra, aquele a quem nos dirigimos.</a:t>
            </a:r>
            <a:endParaRPr lang="en-US" sz="2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o"/>
          <p:cNvSpPr txBox="1"/>
          <p:nvPr/>
        </p:nvSpPr>
        <p:spPr>
          <a:xfrm>
            <a:off x="182880" y="274320"/>
            <a:ext cx="8778240" cy="6309360"/>
          </a:xfrm>
          <a:prstGeom prst="rect">
            <a:avLst/>
          </a:prstGeom>
          <a:noFill/>
          <a:ln/>
        </p:spPr>
        <p:txBody>
          <a:bodyPr wrap="square" lIns="63500" tIns="63500" rIns="63500" bIns="63500" rtlCol="0" anchor="t"/>
          <a:lstStyle/>
          <a:p>
            <a:pPr marL="0" indent="0" algn="l">
              <a:buNone/>
            </a:pPr>
            <a:r>
              <a:rPr lang="en-US" sz="2400" b="1" dirty="0">
                <a:solidFill>
                  <a:schemeClr val="accent1"/>
                </a:solidFill>
                <a:latin typeface="Arial" pitchFamily="34" charset="0"/>
                <a:ea typeface="Arial" pitchFamily="34" charset="-122"/>
                <a:cs typeface="Arial" pitchFamily="34" charset="-120"/>
              </a:rPr>
              <a:t>APLICAÇÃO</a:t>
            </a:r>
            <a:endParaRPr lang="en-US" sz="2400" dirty="0"/>
          </a:p>
          <a:p>
            <a:pPr marL="0" indent="0" algn="l">
              <a:buNone/>
            </a:pPr>
            <a:endParaRPr lang="en-US" sz="2400" dirty="0"/>
          </a:p>
          <a:p>
            <a:pPr marL="0" indent="0" algn="l">
              <a:buNone/>
            </a:pPr>
            <a:r>
              <a:rPr lang="en-US" sz="2400" dirty="0">
                <a:solidFill>
                  <a:schemeClr val="bg1"/>
                </a:solidFill>
                <a:latin typeface="Arial" pitchFamily="34" charset="0"/>
                <a:ea typeface="Arial" pitchFamily="34" charset="-122"/>
                <a:cs typeface="Arial" pitchFamily="34" charset="-120"/>
              </a:rPr>
              <a:t>Antes de apresentar seus pedidos a Deus, lembre-se de quem Ele é e do que a sua Palavra revela sobre Ele. Assim como uma criança aprende a conhecer o pai pela convivência, nós aprendemos a conhecer Deus caminhando com Ele e ouvindo sua Palavra. Quanto mais o conhecemos, mais aprendemos a confiar nele e a orar de acordo com a sua vontade.</a:t>
            </a:r>
            <a:endParaRPr lang="en-US" sz="2400" dirty="0"/>
          </a:p>
          <a:p>
            <a:pPr marL="0" indent="0" algn="l">
              <a:buNone/>
            </a:pPr>
            <a:endParaRPr lang="en-US" sz="2400" dirty="0"/>
          </a:p>
          <a:p>
            <a:pPr marL="0" indent="0" algn="l">
              <a:buNone/>
            </a:pPr>
            <a:endParaRPr lang="en-US" sz="2400" dirty="0"/>
          </a:p>
          <a:p>
            <a:pPr marL="0" indent="0" algn="l">
              <a:buNone/>
            </a:pPr>
            <a:r>
              <a:rPr lang="en-US" sz="2400" b="1" dirty="0">
                <a:solidFill>
                  <a:schemeClr val="accent1"/>
                </a:solidFill>
                <a:latin typeface="Arial" pitchFamily="34" charset="0"/>
                <a:ea typeface="Arial" pitchFamily="34" charset="-122"/>
                <a:cs typeface="Arial" pitchFamily="34" charset="-120"/>
              </a:rPr>
              <a:t>FRASE-CHAVE</a:t>
            </a:r>
            <a:endParaRPr lang="en-US" sz="2400" dirty="0"/>
          </a:p>
          <a:p>
            <a:pPr marL="0" indent="0" algn="l">
              <a:buNone/>
            </a:pPr>
            <a:r>
              <a:rPr lang="en-US" sz="2400" b="1" dirty="0">
                <a:solidFill>
                  <a:schemeClr val="bg1"/>
                </a:solidFill>
                <a:latin typeface="Arial" pitchFamily="34" charset="0"/>
                <a:ea typeface="Arial" pitchFamily="34" charset="-122"/>
                <a:cs typeface="Arial" pitchFamily="34" charset="-120"/>
              </a:rPr>
              <a:t>→  Assim como uma criança aprende a se relacionar com o pai enquanto cresce ao seu lado, nós aprendemos a nos relacionar com Deus à medida que caminhamos com Ele e conhecemos sua Palavra.</a:t>
            </a:r>
            <a:endParaRPr lang="en-US" sz="2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1371600"/>
            <a:ext cx="8229600" cy="4114800"/>
          </a:xfrm>
          <a:prstGeom prst="rect">
            <a:avLst/>
          </a:prstGeom>
          <a:noFill/>
          <a:ln/>
        </p:spPr>
        <p:txBody>
          <a:bodyPr wrap="square" rtlCol="0" anchor="ctr"/>
          <a:lstStyle/>
          <a:p>
            <a:pPr marL="0" indent="0" algn="ctr">
              <a:buNone/>
            </a:pPr>
            <a:r>
              <a:rPr lang="en-US" sz="4400" b="1" dirty="0">
                <a:solidFill>
                  <a:schemeClr val="accent1"/>
                </a:solidFill>
                <a:latin typeface="Arial" pitchFamily="34" charset="0"/>
                <a:ea typeface="Arial" pitchFamily="34" charset="-122"/>
                <a:cs typeface="Arial" pitchFamily="34" charset="-120"/>
              </a:rPr>
              <a:t>II</a:t>
            </a:r>
            <a:r>
              <a:rPr lang="pt-BR" sz="4400" b="1" dirty="0">
                <a:solidFill>
                  <a:schemeClr val="accent1"/>
                </a:solidFill>
                <a:latin typeface="Arial" pitchFamily="34" charset="0"/>
                <a:ea typeface="Arial" pitchFamily="34" charset="-122"/>
                <a:cs typeface="Arial" pitchFamily="34" charset="-120"/>
              </a:rPr>
              <a:t>I</a:t>
            </a:r>
            <a:r>
              <a:rPr lang="en-US" sz="4400" b="1" dirty="0">
                <a:solidFill>
                  <a:schemeClr val="accent1"/>
                </a:solidFill>
                <a:latin typeface="Arial" pitchFamily="34" charset="0"/>
                <a:ea typeface="Arial" pitchFamily="34" charset="-122"/>
                <a:cs typeface="Arial" pitchFamily="34" charset="-120"/>
              </a:rPr>
              <a:t>. ORAÇÃO ESPERANÇOSA POR CAUSA DA FIDELIDADE DE DEUS</a:t>
            </a:r>
            <a:endParaRPr lang="en-US" sz="4400" dirty="0"/>
          </a:p>
          <a:p>
            <a:pPr marL="0" indent="0" algn="ctr">
              <a:buNone/>
            </a:pPr>
            <a:endParaRPr lang="en-US" sz="4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o"/>
          <p:cNvSpPr txBox="1"/>
          <p:nvPr/>
        </p:nvSpPr>
        <p:spPr>
          <a:xfrm>
            <a:off x="182880" y="274320"/>
            <a:ext cx="8778240" cy="6309360"/>
          </a:xfrm>
          <a:prstGeom prst="rect">
            <a:avLst/>
          </a:prstGeom>
          <a:noFill/>
          <a:ln/>
        </p:spPr>
        <p:txBody>
          <a:bodyPr wrap="square" lIns="63500" tIns="63500" rIns="63500" bIns="63500" rtlCol="0" anchor="t"/>
          <a:lstStyle/>
          <a:p>
            <a:pPr marL="0" indent="0" algn="l">
              <a:buNone/>
            </a:pPr>
            <a:r>
              <a:rPr lang="en-US" sz="2400" b="1" dirty="0">
                <a:solidFill>
                  <a:schemeClr val="accent1"/>
                </a:solidFill>
                <a:latin typeface="Arial" pitchFamily="34" charset="0"/>
                <a:ea typeface="Arial" pitchFamily="34" charset="-122"/>
                <a:cs typeface="Arial" pitchFamily="34" charset="-120"/>
              </a:rPr>
              <a:t>VERSÍCULO BASE</a:t>
            </a:r>
            <a:endParaRPr lang="en-US" sz="2400" dirty="0"/>
          </a:p>
          <a:p>
            <a:pPr marL="0" indent="0" algn="l">
              <a:buNone/>
            </a:pPr>
            <a:endParaRPr lang="en-US" sz="2400" dirty="0"/>
          </a:p>
          <a:p>
            <a:pPr marL="0" indent="0" algn="l">
              <a:buNone/>
            </a:pPr>
            <a:r>
              <a:rPr lang="en-US" sz="2400" dirty="0">
                <a:solidFill>
                  <a:schemeClr val="bg1"/>
                </a:solidFill>
                <a:latin typeface="Arial" pitchFamily="34" charset="0"/>
                <a:ea typeface="Arial" pitchFamily="34" charset="-122"/>
                <a:cs typeface="Arial" pitchFamily="34" charset="-120"/>
              </a:rPr>
              <a:t>D</a:t>
            </a:r>
            <a:r>
              <a:rPr lang="pt-BR" sz="2400" dirty="0">
                <a:solidFill>
                  <a:schemeClr val="bg1"/>
                </a:solidFill>
                <a:latin typeface="Arial" pitchFamily="34" charset="0"/>
                <a:ea typeface="Arial" pitchFamily="34" charset="-122"/>
                <a:cs typeface="Arial" pitchFamily="34" charset="-120"/>
              </a:rPr>
              <a:t>n.</a:t>
            </a:r>
            <a:r>
              <a:rPr lang="en-US" sz="2400" dirty="0">
                <a:solidFill>
                  <a:schemeClr val="bg1"/>
                </a:solidFill>
                <a:latin typeface="Arial" pitchFamily="34" charset="0"/>
                <a:ea typeface="Arial" pitchFamily="34" charset="-122"/>
                <a:cs typeface="Arial" pitchFamily="34" charset="-120"/>
              </a:rPr>
              <a:t>9:4</a:t>
            </a:r>
            <a:r>
              <a:rPr lang="pt-BR" sz="2400" dirty="0">
                <a:solidFill>
                  <a:schemeClr val="bg1"/>
                </a:solidFill>
                <a:latin typeface="Arial" pitchFamily="34" charset="0"/>
                <a:ea typeface="Arial" pitchFamily="34" charset="-122"/>
                <a:cs typeface="Arial" pitchFamily="34" charset="-120"/>
              </a:rPr>
              <a:t>-</a:t>
            </a:r>
            <a:r>
              <a:rPr lang="en-US" sz="2400" dirty="0">
                <a:solidFill>
                  <a:schemeClr val="bg1"/>
                </a:solidFill>
                <a:latin typeface="Arial" pitchFamily="34" charset="0"/>
                <a:ea typeface="Arial" pitchFamily="34" charset="-122"/>
                <a:cs typeface="Arial" pitchFamily="34" charset="-120"/>
              </a:rPr>
              <a:t>12. </a:t>
            </a:r>
            <a:endParaRPr lang="pt-BR" sz="2400" dirty="0">
              <a:solidFill>
                <a:schemeClr val="bg1"/>
              </a:solidFill>
              <a:latin typeface="Arial" pitchFamily="34" charset="0"/>
              <a:ea typeface="Arial" pitchFamily="34" charset="-122"/>
              <a:cs typeface="Arial" pitchFamily="34" charset="-120"/>
            </a:endParaRPr>
          </a:p>
          <a:p>
            <a:pPr marL="0" indent="0" algn="l">
              <a:buNone/>
            </a:pPr>
            <a:endParaRPr lang="pt-BR" sz="2400" dirty="0">
              <a:solidFill>
                <a:schemeClr val="bg1"/>
              </a:solidFill>
              <a:latin typeface="Arial" pitchFamily="34" charset="0"/>
              <a:ea typeface="Arial" pitchFamily="34" charset="-122"/>
              <a:cs typeface="Arial" pitchFamily="34" charset="-120"/>
            </a:endParaRPr>
          </a:p>
          <a:p>
            <a:pPr marL="0" indent="0" algn="l">
              <a:buNone/>
            </a:pPr>
            <a:r>
              <a:rPr lang="pt-BR" sz="2400" dirty="0">
                <a:solidFill>
                  <a:schemeClr val="bg1"/>
                </a:solidFill>
                <a:latin typeface="Arial" pitchFamily="34" charset="0"/>
                <a:ea typeface="Arial" pitchFamily="34" charset="-122"/>
                <a:cs typeface="Arial" pitchFamily="34" charset="-120"/>
              </a:rPr>
              <a:t> Dn.9:12. “Ele confirmou a sua palavra, que falou contra nós e contra os nossos juízes que nos julgavam, e fez vir sobre nós grande mal, porquanto nunca, debaixo de todo o céu, aconteceu o que se deu em Jerusalém.”</a:t>
            </a:r>
          </a:p>
          <a:p>
            <a:pPr marL="0" indent="0" algn="l">
              <a:buNone/>
            </a:pPr>
            <a:endParaRPr lang="pt-BR" sz="2400" dirty="0">
              <a:solidFill>
                <a:schemeClr val="bg1"/>
              </a:solidFill>
              <a:latin typeface="Arial" pitchFamily="34" charset="0"/>
              <a:ea typeface="Arial" pitchFamily="34" charset="-122"/>
              <a:cs typeface="Arial" pitchFamily="34" charset="-120"/>
            </a:endParaRPr>
          </a:p>
          <a:p>
            <a:pPr marL="0" indent="0" algn="l">
              <a:buNone/>
            </a:pPr>
            <a:r>
              <a:rPr lang="en-US" sz="2400" dirty="0">
                <a:solidFill>
                  <a:schemeClr val="bg1"/>
                </a:solidFill>
                <a:latin typeface="Arial" pitchFamily="34" charset="0"/>
                <a:ea typeface="Arial" pitchFamily="34" charset="-122"/>
                <a:cs typeface="Arial" pitchFamily="34" charset="-120"/>
              </a:rPr>
              <a:t>Daniel reconhece a fidelidade de Deus à sua Palavra, inclusive nas advertências feitas ao </a:t>
            </a:r>
            <a:r>
              <a:rPr lang="en-US" sz="2400" dirty="0" err="1">
                <a:solidFill>
                  <a:schemeClr val="bg1"/>
                </a:solidFill>
                <a:latin typeface="Arial" pitchFamily="34" charset="0"/>
                <a:ea typeface="Arial" pitchFamily="34" charset="-122"/>
                <a:cs typeface="Arial" pitchFamily="34" charset="-120"/>
              </a:rPr>
              <a:t>povo</a:t>
            </a:r>
            <a:r>
              <a:rPr lang="en-US" sz="2400" dirty="0">
                <a:solidFill>
                  <a:schemeClr val="bg1"/>
                </a:solidFill>
                <a:latin typeface="Arial" pitchFamily="34" charset="0"/>
                <a:ea typeface="Arial" pitchFamily="34" charset="-122"/>
                <a:cs typeface="Arial" pitchFamily="34" charset="-120"/>
              </a:rPr>
              <a:t>.</a:t>
            </a:r>
            <a:endParaRPr lang="pt-BR" sz="2400" dirty="0">
              <a:solidFill>
                <a:schemeClr val="bg1"/>
              </a:solidFill>
              <a:latin typeface="Arial" pitchFamily="34" charset="0"/>
              <a:ea typeface="Arial" pitchFamily="34" charset="-122"/>
              <a:cs typeface="Arial" pitchFamily="34" charset="-120"/>
            </a:endParaRPr>
          </a:p>
          <a:p>
            <a:pPr marL="0" indent="0" algn="l">
              <a:buNone/>
            </a:pPr>
            <a:endParaRPr lang="en-US" sz="2400" dirty="0"/>
          </a:p>
          <a:p>
            <a:pPr marL="0" indent="0" algn="l">
              <a:buNone/>
            </a:pPr>
            <a:endParaRPr lang="en-US" sz="2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o"/>
          <p:cNvSpPr txBox="1"/>
          <p:nvPr/>
        </p:nvSpPr>
        <p:spPr>
          <a:xfrm>
            <a:off x="182880" y="274320"/>
            <a:ext cx="8778240" cy="6309360"/>
          </a:xfrm>
          <a:prstGeom prst="rect">
            <a:avLst/>
          </a:prstGeom>
          <a:noFill/>
          <a:ln/>
        </p:spPr>
        <p:txBody>
          <a:bodyPr wrap="square" lIns="63500" tIns="63500" rIns="63500" bIns="63500" rtlCol="0" anchor="t"/>
          <a:lstStyle/>
          <a:p>
            <a:pPr marL="0" indent="0" algn="l">
              <a:buNone/>
            </a:pPr>
            <a:r>
              <a:rPr lang="en-US" sz="2400" b="1" dirty="0">
                <a:solidFill>
                  <a:schemeClr val="accent1"/>
                </a:solidFill>
                <a:latin typeface="Arial" pitchFamily="34" charset="0"/>
                <a:ea typeface="Arial" pitchFamily="34" charset="-122"/>
                <a:cs typeface="Arial" pitchFamily="34" charset="-120"/>
              </a:rPr>
              <a:t>OBSERVAÇÃO</a:t>
            </a:r>
            <a:endParaRPr lang="en-US" sz="2400" dirty="0"/>
          </a:p>
          <a:p>
            <a:pPr marL="0" indent="0" algn="l">
              <a:buNone/>
            </a:pPr>
            <a:endParaRPr lang="en-US" sz="2400" dirty="0"/>
          </a:p>
          <a:p>
            <a:pPr marL="0" indent="0" algn="l">
              <a:buNone/>
            </a:pPr>
            <a:r>
              <a:rPr lang="en-US" sz="2400" dirty="0">
                <a:solidFill>
                  <a:schemeClr val="bg1"/>
                </a:solidFill>
                <a:latin typeface="Arial" pitchFamily="34" charset="0"/>
                <a:ea typeface="Arial" pitchFamily="34" charset="-122"/>
                <a:cs typeface="Arial" pitchFamily="34" charset="-120"/>
              </a:rPr>
              <a:t>Daniel entendeu que o exílio não era uma surpresa para Deus. Ao examinar a profecia de Jeremias e recordar a aliança, ele percebeu que o Senhor havia advertido seu povo sobre as consequências da desobediência. Deus permanecia fiel àquilo que havia declarado, mesmo quando sua Palavra anunciava disciplina.</a:t>
            </a:r>
            <a:endParaRPr lang="en-US" sz="2400" dirty="0"/>
          </a:p>
          <a:p>
            <a:pPr marL="0" indent="0" algn="l">
              <a:buNone/>
            </a:pPr>
            <a:endParaRPr lang="en-US" sz="2400" dirty="0"/>
          </a:p>
          <a:p>
            <a:pPr marL="0" indent="0" algn="l">
              <a:buNone/>
            </a:pPr>
            <a:r>
              <a:rPr lang="en-US" sz="2400" dirty="0">
                <a:solidFill>
                  <a:schemeClr val="bg1"/>
                </a:solidFill>
                <a:latin typeface="Arial" pitchFamily="34" charset="0"/>
                <a:ea typeface="Arial" pitchFamily="34" charset="-122"/>
                <a:cs typeface="Arial" pitchFamily="34" charset="-120"/>
              </a:rPr>
              <a:t>Essa compreensão não levou Daniel ao desespero, mas a uma oração esperançosa. O mesmo Deus que leva a sério suas advertências também é digno de confiança em suas promessas. A esperança de Daniel, portanto, não estava em sinais favoráveis ou desfavoráveis ao seu redor; mas estava no caráter fiel do Senhor.</a:t>
            </a:r>
            <a:endParaRPr lang="en-US" sz="2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o"/>
          <p:cNvSpPr txBox="1"/>
          <p:nvPr/>
        </p:nvSpPr>
        <p:spPr>
          <a:xfrm>
            <a:off x="457200" y="685800"/>
            <a:ext cx="8229600" cy="5486400"/>
          </a:xfrm>
          <a:prstGeom prst="rect">
            <a:avLst/>
          </a:prstGeom>
          <a:noFill/>
          <a:ln/>
        </p:spPr>
        <p:txBody>
          <a:bodyPr wrap="square" lIns="63500" tIns="63500" rIns="63500" bIns="63500" rtlCol="0" anchor="ctr"/>
          <a:lstStyle/>
          <a:p>
            <a:pPr marL="0" indent="0" algn="l">
              <a:buNone/>
            </a:pPr>
            <a:r>
              <a:rPr lang="en-US" sz="2400" dirty="0">
                <a:solidFill>
                  <a:schemeClr val="bg1"/>
                </a:solidFill>
                <a:latin typeface="Arial" pitchFamily="34" charset="0"/>
                <a:ea typeface="Arial" pitchFamily="34" charset="-122"/>
                <a:cs typeface="Arial" pitchFamily="34" charset="-120"/>
              </a:rPr>
              <a:t>Daniel buscou compreender o que Deus havia declarado em sua Palavra e reconheceu que o Senhor é fiel ao que diz. Da mesma forma, precisamos conhecer as Escrituras para fundamentar nossas orações naquilo que Deus revelou, sem confundir nossos desejos com suas promessas.</a:t>
            </a:r>
            <a:endParaRPr lang="en-US" sz="2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o"/>
          <p:cNvSpPr txBox="1"/>
          <p:nvPr/>
        </p:nvSpPr>
        <p:spPr>
          <a:xfrm>
            <a:off x="182880" y="274320"/>
            <a:ext cx="8778240" cy="6309360"/>
          </a:xfrm>
          <a:prstGeom prst="rect">
            <a:avLst/>
          </a:prstGeom>
          <a:noFill/>
          <a:ln/>
        </p:spPr>
        <p:txBody>
          <a:bodyPr wrap="square" lIns="63500" tIns="63500" rIns="63500" bIns="63500" rtlCol="0" anchor="t"/>
          <a:lstStyle/>
          <a:p>
            <a:pPr marL="0" indent="0" algn="l">
              <a:buNone/>
            </a:pPr>
            <a:r>
              <a:rPr lang="en-US" sz="2400" b="1" dirty="0">
                <a:solidFill>
                  <a:schemeClr val="accent1"/>
                </a:solidFill>
                <a:latin typeface="Arial" pitchFamily="34" charset="0"/>
                <a:ea typeface="Arial" pitchFamily="34" charset="-122"/>
                <a:cs typeface="Arial" pitchFamily="34" charset="-120"/>
              </a:rPr>
              <a:t>ILUSTRAÇÃO</a:t>
            </a:r>
            <a:endParaRPr lang="en-US" sz="2400" dirty="0"/>
          </a:p>
          <a:p>
            <a:pPr marL="0" indent="0" algn="l">
              <a:buNone/>
            </a:pPr>
            <a:endParaRPr lang="en-US" sz="2400" dirty="0"/>
          </a:p>
          <a:p>
            <a:pPr marL="0" indent="0" algn="l">
              <a:buNone/>
            </a:pPr>
            <a:r>
              <a:rPr lang="en-US" sz="2400" dirty="0">
                <a:solidFill>
                  <a:schemeClr val="bg1"/>
                </a:solidFill>
                <a:latin typeface="Arial" pitchFamily="34" charset="0"/>
                <a:ea typeface="Arial" pitchFamily="34" charset="-122"/>
                <a:cs typeface="Arial" pitchFamily="34" charset="-120"/>
              </a:rPr>
              <a:t>Pense em um pai que orienta seu filho e o alerta sobre as consequências de uma escolha errada. Se o filho desobedece, o pai não deixa de cumprir o que havia dito apenas para evitar que ele sofra as consequências. Isso não significa que deixou de amar o filho, mas que suas palavras eram verdadeiras. Da mesma forma, Deus é fiel à sua Palavra: Ele cumpre suas promessas e também leva a sério suas advertências. Sua fidelidade não significa que Ele fará tudo o que desejamos, mas que podemos confiar naquilo que Ele declarou.</a:t>
            </a:r>
            <a:endParaRPr lang="en-US" sz="2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o"/>
          <p:cNvSpPr txBox="1"/>
          <p:nvPr/>
        </p:nvSpPr>
        <p:spPr>
          <a:xfrm>
            <a:off x="182880" y="274320"/>
            <a:ext cx="8778240" cy="6309360"/>
          </a:xfrm>
          <a:prstGeom prst="rect">
            <a:avLst/>
          </a:prstGeom>
          <a:noFill/>
          <a:ln/>
        </p:spPr>
        <p:txBody>
          <a:bodyPr wrap="square" lIns="63500" tIns="63500" rIns="63500" bIns="63500" rtlCol="0" anchor="t"/>
          <a:lstStyle/>
          <a:p>
            <a:pPr marL="0" indent="0" algn="l">
              <a:buNone/>
            </a:pPr>
            <a:r>
              <a:rPr lang="en-US" sz="2400" b="1" dirty="0">
                <a:solidFill>
                  <a:schemeClr val="accent1"/>
                </a:solidFill>
                <a:latin typeface="Arial" pitchFamily="34" charset="0"/>
                <a:ea typeface="Arial" pitchFamily="34" charset="-122"/>
                <a:cs typeface="Arial" pitchFamily="34" charset="-120"/>
              </a:rPr>
              <a:t>APLICAÇÃO</a:t>
            </a:r>
            <a:endParaRPr lang="en-US" sz="2400" dirty="0"/>
          </a:p>
          <a:p>
            <a:pPr marL="0" indent="0" algn="l">
              <a:buNone/>
            </a:pPr>
            <a:endParaRPr lang="en-US" sz="2400" dirty="0"/>
          </a:p>
          <a:p>
            <a:pPr marL="0" indent="0" algn="l">
              <a:buNone/>
            </a:pPr>
            <a:r>
              <a:rPr lang="en-US" sz="2400" dirty="0">
                <a:solidFill>
                  <a:schemeClr val="bg1"/>
                </a:solidFill>
                <a:latin typeface="Arial" pitchFamily="34" charset="0"/>
                <a:ea typeface="Arial" pitchFamily="34" charset="-122"/>
                <a:cs typeface="Arial" pitchFamily="34" charset="-120"/>
              </a:rPr>
              <a:t>Quando as circunstâncias parecerem contrariar sua esperança, volte à Palavra e examine se está confiando em uma promessa que Deus realmente fez ou apenas esperando que seus planos aconteçam. Lembre-se de que Deus continua sendo fiel, mesmo quando você não compreende o que está vivendo.</a:t>
            </a:r>
            <a:endParaRPr lang="en-US" sz="2400" dirty="0"/>
          </a:p>
          <a:p>
            <a:pPr marL="0" indent="0" algn="l">
              <a:buNone/>
            </a:pPr>
            <a:endParaRPr lang="en-US" sz="2400" dirty="0"/>
          </a:p>
          <a:p>
            <a:pPr marL="0" indent="0" algn="l">
              <a:buNone/>
            </a:pPr>
            <a:r>
              <a:rPr lang="en-US" sz="2400" dirty="0">
                <a:solidFill>
                  <a:schemeClr val="bg1"/>
                </a:solidFill>
                <a:latin typeface="Arial" pitchFamily="34" charset="0"/>
                <a:ea typeface="Arial" pitchFamily="34" charset="-122"/>
                <a:cs typeface="Arial" pitchFamily="34" charset="-120"/>
              </a:rPr>
              <a:t>Nem sempre tudo o que acontece é bom, mas Deus age em meio às circunstâncias para cumprir seus propósitos e nos ensinar a confiar nele. Aprenda a descansar no caráter de Deus, mesmo quando ainda não conhece o resultado.</a:t>
            </a:r>
            <a:endParaRPr lang="en-US" sz="2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o"/>
          <p:cNvSpPr txBox="1"/>
          <p:nvPr/>
        </p:nvSpPr>
        <p:spPr>
          <a:xfrm>
            <a:off x="457200" y="685800"/>
            <a:ext cx="8229600" cy="5486400"/>
          </a:xfrm>
          <a:prstGeom prst="rect">
            <a:avLst/>
          </a:prstGeom>
          <a:noFill/>
          <a:ln/>
        </p:spPr>
        <p:txBody>
          <a:bodyPr wrap="square" lIns="63500" tIns="63500" rIns="63500" bIns="63500" rtlCol="0" anchor="ctr"/>
          <a:lstStyle/>
          <a:p>
            <a:pPr marL="0" indent="0" algn="l">
              <a:buNone/>
            </a:pPr>
            <a:r>
              <a:rPr lang="en-US" sz="2400" b="1" dirty="0">
                <a:solidFill>
                  <a:schemeClr val="accent1"/>
                </a:solidFill>
                <a:latin typeface="Arial" pitchFamily="34" charset="0"/>
                <a:ea typeface="Arial" pitchFamily="34" charset="-122"/>
                <a:cs typeface="Arial" pitchFamily="34" charset="-120"/>
              </a:rPr>
              <a:t>FRASE-CHAVE</a:t>
            </a:r>
            <a:endParaRPr lang="en-US" sz="2400" dirty="0"/>
          </a:p>
          <a:p>
            <a:pPr marL="0" indent="0" algn="l">
              <a:buNone/>
            </a:pPr>
            <a:endParaRPr lang="en-US" sz="2400" dirty="0"/>
          </a:p>
          <a:p>
            <a:pPr marL="0" indent="0" algn="l">
              <a:buNone/>
            </a:pPr>
            <a:r>
              <a:rPr lang="en-US" sz="2400" b="1" dirty="0">
                <a:solidFill>
                  <a:schemeClr val="bg1"/>
                </a:solidFill>
                <a:latin typeface="Arial" pitchFamily="34" charset="0"/>
                <a:ea typeface="Arial" pitchFamily="34" charset="-122"/>
                <a:cs typeface="Arial" pitchFamily="34" charset="-120"/>
              </a:rPr>
              <a:t>→  A esperança de quem ora não depende de circunstâncias favoráveis, mas da fidelidade de Deus.</a:t>
            </a:r>
            <a:endParaRPr lang="en-US" sz="2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1371600"/>
            <a:ext cx="8229600" cy="4114800"/>
          </a:xfrm>
          <a:prstGeom prst="rect">
            <a:avLst/>
          </a:prstGeom>
          <a:noFill/>
          <a:ln/>
        </p:spPr>
        <p:txBody>
          <a:bodyPr wrap="square" rtlCol="0" anchor="ctr"/>
          <a:lstStyle/>
          <a:p>
            <a:pPr marL="0" indent="0" algn="ctr">
              <a:buNone/>
            </a:pPr>
            <a:r>
              <a:rPr lang="en-US" sz="4400" b="1" dirty="0">
                <a:solidFill>
                  <a:schemeClr val="accent1"/>
                </a:solidFill>
                <a:latin typeface="Arial" pitchFamily="34" charset="0"/>
                <a:ea typeface="Arial" pitchFamily="34" charset="-122"/>
                <a:cs typeface="Arial" pitchFamily="34" charset="-120"/>
              </a:rPr>
              <a:t>I</a:t>
            </a:r>
            <a:r>
              <a:rPr lang="pt-BR" sz="4400" b="1" dirty="0">
                <a:solidFill>
                  <a:schemeClr val="accent1"/>
                </a:solidFill>
                <a:latin typeface="Arial" pitchFamily="34" charset="0"/>
                <a:ea typeface="Arial" pitchFamily="34" charset="-122"/>
                <a:cs typeface="Arial" pitchFamily="34" charset="-120"/>
              </a:rPr>
              <a:t>V</a:t>
            </a:r>
            <a:r>
              <a:rPr lang="en-US" sz="4400" b="1" dirty="0">
                <a:solidFill>
                  <a:schemeClr val="accent1"/>
                </a:solidFill>
                <a:latin typeface="Arial" pitchFamily="34" charset="0"/>
                <a:ea typeface="Arial" pitchFamily="34" charset="-122"/>
                <a:cs typeface="Arial" pitchFamily="34" charset="-120"/>
              </a:rPr>
              <a:t>. ORAÇÃO CONSCIENTE DA JUSTIÇA DE DEUS</a:t>
            </a:r>
            <a:endParaRPr lang="en-US" sz="4400" dirty="0"/>
          </a:p>
          <a:p>
            <a:pPr marL="0" indent="0" algn="ctr">
              <a:buNone/>
            </a:pPr>
            <a:endParaRPr lang="en-US" sz="4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o"/>
          <p:cNvSpPr txBox="1"/>
          <p:nvPr/>
        </p:nvSpPr>
        <p:spPr>
          <a:xfrm>
            <a:off x="182880" y="274320"/>
            <a:ext cx="8778240" cy="6309360"/>
          </a:xfrm>
          <a:prstGeom prst="rect">
            <a:avLst/>
          </a:prstGeom>
          <a:noFill/>
          <a:ln/>
        </p:spPr>
        <p:txBody>
          <a:bodyPr wrap="square" lIns="63500" tIns="63500" rIns="63500" bIns="63500" rtlCol="0" anchor="t"/>
          <a:lstStyle/>
          <a:p>
            <a:pPr marL="0" indent="0" algn="l">
              <a:buNone/>
            </a:pPr>
            <a:r>
              <a:rPr lang="en-US" sz="2400" b="1" dirty="0">
                <a:solidFill>
                  <a:schemeClr val="accent1"/>
                </a:solidFill>
                <a:latin typeface="Arial" pitchFamily="34" charset="0"/>
                <a:ea typeface="Arial" pitchFamily="34" charset="-122"/>
                <a:cs typeface="Arial" pitchFamily="34" charset="-120"/>
              </a:rPr>
              <a:t>VERSÍCULO BASE</a:t>
            </a:r>
            <a:endParaRPr lang="en-US" sz="2400" dirty="0"/>
          </a:p>
          <a:p>
            <a:pPr marL="0" indent="0" algn="l">
              <a:buNone/>
            </a:pPr>
            <a:endParaRPr lang="en-US" sz="2400" dirty="0"/>
          </a:p>
          <a:p>
            <a:pPr marL="0" indent="0" algn="l">
              <a:buNone/>
            </a:pPr>
            <a:r>
              <a:rPr lang="en-US" sz="2400" dirty="0">
                <a:solidFill>
                  <a:schemeClr val="bg1"/>
                </a:solidFill>
                <a:latin typeface="Arial" pitchFamily="34" charset="0"/>
                <a:ea typeface="Arial" pitchFamily="34" charset="-122"/>
                <a:cs typeface="Arial" pitchFamily="34" charset="-120"/>
              </a:rPr>
              <a:t>Daniel 9:7 e 16. Daniel reconhece que a justiça pertence ao Senhor e apresenta a vergonha e a culpa do </a:t>
            </a:r>
            <a:r>
              <a:rPr lang="en-US" sz="2400" dirty="0" err="1">
                <a:solidFill>
                  <a:schemeClr val="bg1"/>
                </a:solidFill>
                <a:latin typeface="Arial" pitchFamily="34" charset="0"/>
                <a:ea typeface="Arial" pitchFamily="34" charset="-122"/>
                <a:cs typeface="Arial" pitchFamily="34" charset="-120"/>
              </a:rPr>
              <a:t>povo</a:t>
            </a:r>
            <a:r>
              <a:rPr lang="en-US" sz="2400" dirty="0">
                <a:solidFill>
                  <a:schemeClr val="bg1"/>
                </a:solidFill>
                <a:latin typeface="Arial" pitchFamily="34" charset="0"/>
                <a:ea typeface="Arial" pitchFamily="34" charset="-122"/>
                <a:cs typeface="Arial" pitchFamily="34" charset="-120"/>
              </a:rPr>
              <a:t>. </a:t>
            </a:r>
            <a:endParaRPr lang="pt-BR" sz="2400" dirty="0">
              <a:solidFill>
                <a:schemeClr val="bg1"/>
              </a:solidFill>
              <a:latin typeface="Arial" pitchFamily="34" charset="0"/>
              <a:ea typeface="Arial" pitchFamily="34" charset="-122"/>
              <a:cs typeface="Arial" pitchFamily="34" charset="-120"/>
            </a:endParaRPr>
          </a:p>
          <a:p>
            <a:pPr marL="0" indent="0" algn="l">
              <a:buNone/>
            </a:pPr>
            <a:endParaRPr lang="pt-BR" sz="2400" dirty="0">
              <a:solidFill>
                <a:schemeClr val="bg1"/>
              </a:solidFill>
              <a:latin typeface="Arial" pitchFamily="34" charset="0"/>
              <a:ea typeface="Arial" pitchFamily="34" charset="-122"/>
              <a:cs typeface="Arial" pitchFamily="34" charset="-120"/>
            </a:endParaRPr>
          </a:p>
          <a:p>
            <a:pPr marL="0" indent="0" algn="l">
              <a:buNone/>
            </a:pPr>
            <a:r>
              <a:rPr lang="en-US" sz="2400" dirty="0">
                <a:solidFill>
                  <a:schemeClr val="bg1"/>
                </a:solidFill>
                <a:latin typeface="Arial" pitchFamily="34" charset="0"/>
                <a:ea typeface="Arial" pitchFamily="34" charset="-122"/>
                <a:cs typeface="Arial" pitchFamily="34" charset="-120"/>
              </a:rPr>
              <a:t>D</a:t>
            </a:r>
            <a:r>
              <a:rPr lang="pt-BR" sz="2400" dirty="0">
                <a:solidFill>
                  <a:schemeClr val="bg1"/>
                </a:solidFill>
                <a:latin typeface="Arial" pitchFamily="34" charset="0"/>
                <a:ea typeface="Arial" pitchFamily="34" charset="-122"/>
                <a:cs typeface="Arial" pitchFamily="34" charset="-120"/>
              </a:rPr>
              <a:t>n.</a:t>
            </a:r>
            <a:r>
              <a:rPr lang="en-US" sz="2400" dirty="0">
                <a:solidFill>
                  <a:schemeClr val="bg1"/>
                </a:solidFill>
                <a:latin typeface="Arial" pitchFamily="34" charset="0"/>
                <a:ea typeface="Arial" pitchFamily="34" charset="-122"/>
                <a:cs typeface="Arial" pitchFamily="34" charset="-120"/>
              </a:rPr>
              <a:t>9:7</a:t>
            </a:r>
            <a:r>
              <a:rPr lang="pt-BR" sz="2400" dirty="0">
                <a:solidFill>
                  <a:schemeClr val="bg1"/>
                </a:solidFill>
                <a:latin typeface="Arial" pitchFamily="34" charset="0"/>
                <a:ea typeface="Arial" pitchFamily="34" charset="-122"/>
                <a:cs typeface="Arial" pitchFamily="34" charset="-120"/>
              </a:rPr>
              <a:t>. “</a:t>
            </a:r>
            <a:r>
              <a:rPr lang="en-US" sz="2400" dirty="0">
                <a:solidFill>
                  <a:schemeClr val="bg1"/>
                </a:solidFill>
                <a:latin typeface="Arial" pitchFamily="34" charset="0"/>
                <a:ea typeface="Arial" pitchFamily="34" charset="-122"/>
                <a:cs typeface="Arial" pitchFamily="34" charset="-120"/>
              </a:rPr>
              <a:t>A ti, ó </a:t>
            </a:r>
            <a:r>
              <a:rPr lang="en-US" sz="2400" dirty="0" err="1">
                <a:solidFill>
                  <a:schemeClr val="bg1"/>
                </a:solidFill>
                <a:latin typeface="Arial" pitchFamily="34" charset="0"/>
                <a:ea typeface="Arial" pitchFamily="34" charset="-122"/>
                <a:cs typeface="Arial" pitchFamily="34" charset="-120"/>
              </a:rPr>
              <a:t>Senhor</a:t>
            </a:r>
            <a:r>
              <a:rPr lang="en-US" sz="2400" dirty="0">
                <a:solidFill>
                  <a:schemeClr val="bg1"/>
                </a:solidFill>
                <a:latin typeface="Arial" pitchFamily="34" charset="0"/>
                <a:ea typeface="Arial" pitchFamily="34" charset="-122"/>
                <a:cs typeface="Arial" pitchFamily="34" charset="-120"/>
              </a:rPr>
              <a:t>, </a:t>
            </a:r>
            <a:r>
              <a:rPr lang="en-US" sz="2400" dirty="0" err="1">
                <a:solidFill>
                  <a:schemeClr val="bg1"/>
                </a:solidFill>
                <a:latin typeface="Arial" pitchFamily="34" charset="0"/>
                <a:ea typeface="Arial" pitchFamily="34" charset="-122"/>
                <a:cs typeface="Arial" pitchFamily="34" charset="-120"/>
              </a:rPr>
              <a:t>pertence</a:t>
            </a:r>
            <a:r>
              <a:rPr lang="en-US" sz="2400" dirty="0">
                <a:solidFill>
                  <a:schemeClr val="bg1"/>
                </a:solidFill>
                <a:latin typeface="Arial" pitchFamily="34" charset="0"/>
                <a:ea typeface="Arial" pitchFamily="34" charset="-122"/>
                <a:cs typeface="Arial" pitchFamily="34" charset="-120"/>
              </a:rPr>
              <a:t> a </a:t>
            </a:r>
            <a:r>
              <a:rPr lang="en-US" sz="2400" dirty="0" err="1">
                <a:solidFill>
                  <a:schemeClr val="bg1"/>
                </a:solidFill>
                <a:latin typeface="Arial" pitchFamily="34" charset="0"/>
                <a:ea typeface="Arial" pitchFamily="34" charset="-122"/>
                <a:cs typeface="Arial" pitchFamily="34" charset="-120"/>
              </a:rPr>
              <a:t>justiça</a:t>
            </a:r>
            <a:r>
              <a:rPr lang="en-US" sz="2400" dirty="0">
                <a:solidFill>
                  <a:schemeClr val="bg1"/>
                </a:solidFill>
                <a:latin typeface="Arial" pitchFamily="34" charset="0"/>
                <a:ea typeface="Arial" pitchFamily="34" charset="-122"/>
                <a:cs typeface="Arial" pitchFamily="34" charset="-120"/>
              </a:rPr>
              <a:t>, </a:t>
            </a:r>
            <a:r>
              <a:rPr lang="en-US" sz="2400" dirty="0" err="1">
                <a:solidFill>
                  <a:schemeClr val="bg1"/>
                </a:solidFill>
                <a:latin typeface="Arial" pitchFamily="34" charset="0"/>
                <a:ea typeface="Arial" pitchFamily="34" charset="-122"/>
                <a:cs typeface="Arial" pitchFamily="34" charset="-120"/>
              </a:rPr>
              <a:t>mas</a:t>
            </a:r>
            <a:r>
              <a:rPr lang="en-US" sz="2400" dirty="0">
                <a:solidFill>
                  <a:schemeClr val="bg1"/>
                </a:solidFill>
                <a:latin typeface="Arial" pitchFamily="34" charset="0"/>
                <a:ea typeface="Arial" pitchFamily="34" charset="-122"/>
                <a:cs typeface="Arial" pitchFamily="34" charset="-120"/>
              </a:rPr>
              <a:t> a </a:t>
            </a:r>
            <a:r>
              <a:rPr lang="en-US" sz="2400" dirty="0" err="1">
                <a:solidFill>
                  <a:schemeClr val="bg1"/>
                </a:solidFill>
                <a:latin typeface="Arial" pitchFamily="34" charset="0"/>
                <a:ea typeface="Arial" pitchFamily="34" charset="-122"/>
                <a:cs typeface="Arial" pitchFamily="34" charset="-120"/>
              </a:rPr>
              <a:t>nós</a:t>
            </a:r>
            <a:r>
              <a:rPr lang="en-US" sz="2400" dirty="0">
                <a:solidFill>
                  <a:schemeClr val="bg1"/>
                </a:solidFill>
                <a:latin typeface="Arial" pitchFamily="34" charset="0"/>
                <a:ea typeface="Arial" pitchFamily="34" charset="-122"/>
                <a:cs typeface="Arial" pitchFamily="34" charset="-120"/>
              </a:rPr>
              <a:t>, o </a:t>
            </a:r>
            <a:r>
              <a:rPr lang="en-US" sz="2400" dirty="0" err="1">
                <a:solidFill>
                  <a:schemeClr val="bg1"/>
                </a:solidFill>
                <a:latin typeface="Arial" pitchFamily="34" charset="0"/>
                <a:ea typeface="Arial" pitchFamily="34" charset="-122"/>
                <a:cs typeface="Arial" pitchFamily="34" charset="-120"/>
              </a:rPr>
              <a:t>corar</a:t>
            </a:r>
            <a:r>
              <a:rPr lang="en-US" sz="2400" dirty="0">
                <a:solidFill>
                  <a:schemeClr val="bg1"/>
                </a:solidFill>
                <a:latin typeface="Arial" pitchFamily="34" charset="0"/>
                <a:ea typeface="Arial" pitchFamily="34" charset="-122"/>
                <a:cs typeface="Arial" pitchFamily="34" charset="-120"/>
              </a:rPr>
              <a:t> de </a:t>
            </a:r>
            <a:r>
              <a:rPr lang="en-US" sz="2400" dirty="0" err="1">
                <a:solidFill>
                  <a:schemeClr val="bg1"/>
                </a:solidFill>
                <a:latin typeface="Arial" pitchFamily="34" charset="0"/>
                <a:ea typeface="Arial" pitchFamily="34" charset="-122"/>
                <a:cs typeface="Arial" pitchFamily="34" charset="-120"/>
              </a:rPr>
              <a:t>vergonha</a:t>
            </a:r>
            <a:r>
              <a:rPr lang="en-US" sz="2400" dirty="0">
                <a:solidFill>
                  <a:schemeClr val="bg1"/>
                </a:solidFill>
                <a:latin typeface="Arial" pitchFamily="34" charset="0"/>
                <a:ea typeface="Arial" pitchFamily="34" charset="-122"/>
                <a:cs typeface="Arial" pitchFamily="34" charset="-120"/>
              </a:rPr>
              <a:t>, </a:t>
            </a:r>
            <a:r>
              <a:rPr lang="en-US" sz="2400" dirty="0" err="1">
                <a:solidFill>
                  <a:schemeClr val="bg1"/>
                </a:solidFill>
                <a:latin typeface="Arial" pitchFamily="34" charset="0"/>
                <a:ea typeface="Arial" pitchFamily="34" charset="-122"/>
                <a:cs typeface="Arial" pitchFamily="34" charset="-120"/>
              </a:rPr>
              <a:t>como</a:t>
            </a:r>
            <a:r>
              <a:rPr lang="en-US" sz="2400" dirty="0">
                <a:solidFill>
                  <a:schemeClr val="bg1"/>
                </a:solidFill>
                <a:latin typeface="Arial" pitchFamily="34" charset="0"/>
                <a:ea typeface="Arial" pitchFamily="34" charset="-122"/>
                <a:cs typeface="Arial" pitchFamily="34" charset="-120"/>
              </a:rPr>
              <a:t> </a:t>
            </a:r>
            <a:r>
              <a:rPr lang="en-US" sz="2400" dirty="0" err="1">
                <a:solidFill>
                  <a:schemeClr val="bg1"/>
                </a:solidFill>
                <a:latin typeface="Arial" pitchFamily="34" charset="0"/>
                <a:ea typeface="Arial" pitchFamily="34" charset="-122"/>
                <a:cs typeface="Arial" pitchFamily="34" charset="-120"/>
              </a:rPr>
              <a:t>hoje</a:t>
            </a:r>
            <a:r>
              <a:rPr lang="en-US" sz="2400" dirty="0">
                <a:solidFill>
                  <a:schemeClr val="bg1"/>
                </a:solidFill>
                <a:latin typeface="Arial" pitchFamily="34" charset="0"/>
                <a:ea typeface="Arial" pitchFamily="34" charset="-122"/>
                <a:cs typeface="Arial" pitchFamily="34" charset="-120"/>
              </a:rPr>
              <a:t> se </a:t>
            </a:r>
            <a:r>
              <a:rPr lang="en-US" sz="2400" dirty="0" err="1">
                <a:solidFill>
                  <a:schemeClr val="bg1"/>
                </a:solidFill>
                <a:latin typeface="Arial" pitchFamily="34" charset="0"/>
                <a:ea typeface="Arial" pitchFamily="34" charset="-122"/>
                <a:cs typeface="Arial" pitchFamily="34" charset="-120"/>
              </a:rPr>
              <a:t>vê</a:t>
            </a:r>
            <a:r>
              <a:rPr lang="en-US" sz="2400" dirty="0">
                <a:solidFill>
                  <a:schemeClr val="bg1"/>
                </a:solidFill>
                <a:latin typeface="Arial" pitchFamily="34" charset="0"/>
                <a:ea typeface="Arial" pitchFamily="34" charset="-122"/>
                <a:cs typeface="Arial" pitchFamily="34" charset="-120"/>
              </a:rPr>
              <a:t>; </a:t>
            </a:r>
            <a:r>
              <a:rPr lang="pt-BR" sz="2400" dirty="0">
                <a:solidFill>
                  <a:schemeClr val="bg1"/>
                </a:solidFill>
                <a:latin typeface="Arial" pitchFamily="34" charset="0"/>
                <a:ea typeface="Arial" pitchFamily="34" charset="-122"/>
                <a:cs typeface="Arial" pitchFamily="34" charset="-120"/>
              </a:rPr>
              <a:t> …</a:t>
            </a:r>
            <a:r>
              <a:rPr lang="en-US" sz="2400" dirty="0" err="1">
                <a:solidFill>
                  <a:schemeClr val="bg1"/>
                </a:solidFill>
                <a:latin typeface="Arial" pitchFamily="34" charset="0"/>
                <a:ea typeface="Arial" pitchFamily="34" charset="-122"/>
                <a:cs typeface="Arial" pitchFamily="34" charset="-120"/>
              </a:rPr>
              <a:t>por</a:t>
            </a:r>
            <a:r>
              <a:rPr lang="en-US" sz="2400" dirty="0">
                <a:solidFill>
                  <a:schemeClr val="bg1"/>
                </a:solidFill>
                <a:latin typeface="Arial" pitchFamily="34" charset="0"/>
                <a:ea typeface="Arial" pitchFamily="34" charset="-122"/>
                <a:cs typeface="Arial" pitchFamily="34" charset="-120"/>
              </a:rPr>
              <a:t> </a:t>
            </a:r>
            <a:r>
              <a:rPr lang="en-US" sz="2400" dirty="0" err="1">
                <a:solidFill>
                  <a:schemeClr val="bg1"/>
                </a:solidFill>
                <a:latin typeface="Arial" pitchFamily="34" charset="0"/>
                <a:ea typeface="Arial" pitchFamily="34" charset="-122"/>
                <a:cs typeface="Arial" pitchFamily="34" charset="-120"/>
              </a:rPr>
              <a:t>causa</a:t>
            </a:r>
            <a:r>
              <a:rPr lang="en-US" sz="2400" dirty="0">
                <a:solidFill>
                  <a:schemeClr val="bg1"/>
                </a:solidFill>
                <a:latin typeface="Arial" pitchFamily="34" charset="0"/>
                <a:ea typeface="Arial" pitchFamily="34" charset="-122"/>
                <a:cs typeface="Arial" pitchFamily="34" charset="-120"/>
              </a:rPr>
              <a:t> das </a:t>
            </a:r>
            <a:r>
              <a:rPr lang="en-US" sz="2400" dirty="0" err="1">
                <a:solidFill>
                  <a:schemeClr val="bg1"/>
                </a:solidFill>
                <a:latin typeface="Arial" pitchFamily="34" charset="0"/>
                <a:ea typeface="Arial" pitchFamily="34" charset="-122"/>
                <a:cs typeface="Arial" pitchFamily="34" charset="-120"/>
              </a:rPr>
              <a:t>suas</a:t>
            </a:r>
            <a:r>
              <a:rPr lang="en-US" sz="2400" dirty="0">
                <a:solidFill>
                  <a:schemeClr val="bg1"/>
                </a:solidFill>
                <a:latin typeface="Arial" pitchFamily="34" charset="0"/>
                <a:ea typeface="Arial" pitchFamily="34" charset="-122"/>
                <a:cs typeface="Arial" pitchFamily="34" charset="-120"/>
              </a:rPr>
              <a:t> </a:t>
            </a:r>
            <a:r>
              <a:rPr lang="en-US" sz="2400" dirty="0" err="1">
                <a:solidFill>
                  <a:schemeClr val="bg1"/>
                </a:solidFill>
                <a:latin typeface="Arial" pitchFamily="34" charset="0"/>
                <a:ea typeface="Arial" pitchFamily="34" charset="-122"/>
                <a:cs typeface="Arial" pitchFamily="34" charset="-120"/>
              </a:rPr>
              <a:t>transgressões</a:t>
            </a:r>
            <a:r>
              <a:rPr lang="en-US" sz="2400" dirty="0">
                <a:solidFill>
                  <a:schemeClr val="bg1"/>
                </a:solidFill>
                <a:latin typeface="Arial" pitchFamily="34" charset="0"/>
                <a:ea typeface="Arial" pitchFamily="34" charset="-122"/>
                <a:cs typeface="Arial" pitchFamily="34" charset="-120"/>
              </a:rPr>
              <a:t> </a:t>
            </a:r>
            <a:r>
              <a:rPr lang="en-US" sz="2400" dirty="0" err="1">
                <a:solidFill>
                  <a:schemeClr val="bg1"/>
                </a:solidFill>
                <a:latin typeface="Arial" pitchFamily="34" charset="0"/>
                <a:ea typeface="Arial" pitchFamily="34" charset="-122"/>
                <a:cs typeface="Arial" pitchFamily="34" charset="-120"/>
              </a:rPr>
              <a:t>que</a:t>
            </a:r>
            <a:r>
              <a:rPr lang="en-US" sz="2400" dirty="0">
                <a:solidFill>
                  <a:schemeClr val="bg1"/>
                </a:solidFill>
                <a:latin typeface="Arial" pitchFamily="34" charset="0"/>
                <a:ea typeface="Arial" pitchFamily="34" charset="-122"/>
                <a:cs typeface="Arial" pitchFamily="34" charset="-120"/>
              </a:rPr>
              <a:t> </a:t>
            </a:r>
            <a:r>
              <a:rPr lang="en-US" sz="2400" dirty="0" err="1">
                <a:solidFill>
                  <a:schemeClr val="bg1"/>
                </a:solidFill>
                <a:latin typeface="Arial" pitchFamily="34" charset="0"/>
                <a:ea typeface="Arial" pitchFamily="34" charset="-122"/>
                <a:cs typeface="Arial" pitchFamily="34" charset="-120"/>
              </a:rPr>
              <a:t>cometeram</a:t>
            </a:r>
            <a:r>
              <a:rPr lang="en-US" sz="2400" dirty="0">
                <a:solidFill>
                  <a:schemeClr val="bg1"/>
                </a:solidFill>
                <a:latin typeface="Arial" pitchFamily="34" charset="0"/>
                <a:ea typeface="Arial" pitchFamily="34" charset="-122"/>
                <a:cs typeface="Arial" pitchFamily="34" charset="-120"/>
              </a:rPr>
              <a:t> contra ti.</a:t>
            </a:r>
            <a:r>
              <a:rPr lang="pt-BR" sz="2400" dirty="0">
                <a:solidFill>
                  <a:schemeClr val="bg1"/>
                </a:solidFill>
                <a:latin typeface="Arial" pitchFamily="34" charset="0"/>
                <a:ea typeface="Arial" pitchFamily="34" charset="-122"/>
                <a:cs typeface="Arial" pitchFamily="34" charset="-120"/>
              </a:rPr>
              <a:t>”</a:t>
            </a:r>
          </a:p>
          <a:p>
            <a:pPr marL="0" indent="0" algn="l">
              <a:buNone/>
            </a:pPr>
            <a:r>
              <a:rPr lang="pt-BR" sz="2400" dirty="0">
                <a:solidFill>
                  <a:schemeClr val="bg1"/>
                </a:solidFill>
                <a:latin typeface="Arial" pitchFamily="34" charset="0"/>
                <a:cs typeface="Arial" pitchFamily="34" charset="-120"/>
              </a:rPr>
              <a:t> </a:t>
            </a:r>
          </a:p>
          <a:p>
            <a:pPr marL="0" indent="0" algn="l">
              <a:buNone/>
            </a:pPr>
            <a:r>
              <a:rPr lang="pt-BR" sz="2400" dirty="0">
                <a:solidFill>
                  <a:schemeClr val="bg1"/>
                </a:solidFill>
                <a:latin typeface="Arial" pitchFamily="34" charset="0"/>
                <a:cs typeface="Arial" pitchFamily="34" charset="-120"/>
              </a:rPr>
              <a:t>Dn.9:16. “Ó Senhor, segundo todas as tuas justiças, aparte-se a tua ira e o teu furor da tua cidade de Jerusalém, do teu santo monte, porquanto, por causa dos nossos pecados e por causa das iniquidades de nossos pais, se tornaram Jerusalém e o teu povo opróbrio para todos os que estão em redor de nós.”</a:t>
            </a:r>
          </a:p>
          <a:p>
            <a:pPr marL="0" indent="0" algn="l">
              <a:buNone/>
            </a:pPr>
            <a:endParaRPr lang="pt-BR" sz="2400" dirty="0"/>
          </a:p>
          <a:p>
            <a:pPr marL="0" indent="0" algn="l">
              <a:buNone/>
            </a:pPr>
            <a:endParaRPr lang="pt-BR" sz="2400" dirty="0"/>
          </a:p>
          <a:p>
            <a:pPr marL="0" indent="0" algn="l">
              <a:buNone/>
            </a:pPr>
            <a:endParaRPr lang="pt-BR" sz="2400" dirty="0"/>
          </a:p>
          <a:p>
            <a:pPr marL="0" indent="0" algn="l">
              <a:buNone/>
            </a:pPr>
            <a:endParaRPr lang="en-US" sz="2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o"/>
          <p:cNvSpPr txBox="1"/>
          <p:nvPr/>
        </p:nvSpPr>
        <p:spPr>
          <a:xfrm>
            <a:off x="182880" y="274320"/>
            <a:ext cx="8778240" cy="6309360"/>
          </a:xfrm>
          <a:prstGeom prst="rect">
            <a:avLst/>
          </a:prstGeom>
          <a:noFill/>
          <a:ln/>
        </p:spPr>
        <p:txBody>
          <a:bodyPr wrap="square" lIns="63500" tIns="63500" rIns="63500" bIns="63500" rtlCol="0" anchor="t"/>
          <a:lstStyle/>
          <a:p>
            <a:pPr marL="0" indent="0" algn="l">
              <a:buNone/>
            </a:pPr>
            <a:r>
              <a:rPr lang="en-US" sz="2400" b="1" dirty="0">
                <a:solidFill>
                  <a:schemeClr val="accent1"/>
                </a:solidFill>
                <a:latin typeface="Arial" pitchFamily="34" charset="0"/>
                <a:ea typeface="Arial" pitchFamily="34" charset="-122"/>
                <a:cs typeface="Arial" pitchFamily="34" charset="-120"/>
              </a:rPr>
              <a:t>OBSERVAÇÃO</a:t>
            </a:r>
            <a:endParaRPr lang="en-US" sz="2400" dirty="0"/>
          </a:p>
          <a:p>
            <a:pPr marL="0" indent="0" algn="l">
              <a:buNone/>
            </a:pPr>
            <a:endParaRPr lang="en-US" sz="2400" dirty="0"/>
          </a:p>
          <a:p>
            <a:pPr marL="0" indent="0" algn="l">
              <a:buNone/>
            </a:pPr>
            <a:r>
              <a:rPr lang="en-US" sz="2400" dirty="0">
                <a:solidFill>
                  <a:schemeClr val="bg1"/>
                </a:solidFill>
                <a:latin typeface="Arial" pitchFamily="34" charset="0"/>
                <a:ea typeface="Arial" pitchFamily="34" charset="-122"/>
                <a:cs typeface="Arial" pitchFamily="34" charset="-120"/>
              </a:rPr>
              <a:t>Ao orar, Daniel não acusa Deus de agir injustamente com Israel. Ele reconhece que o povo transgrediu a Palavra, ignorou advertências e sofreu as consequências da desobediência. A oração de Daniel demonstra consciência da justiça divina: o Senhor é justo em seu caráter e em suas ações.</a:t>
            </a:r>
            <a:endParaRPr lang="en-US" sz="2400" dirty="0"/>
          </a:p>
          <a:p>
            <a:pPr marL="0" indent="0" algn="l">
              <a:buNone/>
            </a:pPr>
            <a:endParaRPr lang="en-US" sz="2400" dirty="0"/>
          </a:p>
          <a:p>
            <a:pPr marL="0" indent="0" algn="l">
              <a:buNone/>
            </a:pPr>
            <a:r>
              <a:rPr lang="en-US" sz="2400" dirty="0">
                <a:solidFill>
                  <a:schemeClr val="bg1"/>
                </a:solidFill>
                <a:latin typeface="Arial" pitchFamily="34" charset="0"/>
                <a:ea typeface="Arial" pitchFamily="34" charset="-122"/>
                <a:cs typeface="Arial" pitchFamily="34" charset="-120"/>
              </a:rPr>
              <a:t>Esse reconhecimento é necessário porque podemos nos aproximar de Deus querendo apenas que Ele retire as consequências dolorosas, sem admitir as atitudes que precisam ser mudadas. A confissão não procura transferir a culpa nem justificar o pecado; ela significa reconhecer o erro diante de Deus e concordar com aquilo que Ele declara em sua Palavra.</a:t>
            </a:r>
            <a:endParaRPr lang="en-US" sz="2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o"/>
          <p:cNvSpPr txBox="1"/>
          <p:nvPr/>
        </p:nvSpPr>
        <p:spPr>
          <a:xfrm>
            <a:off x="457200" y="685800"/>
            <a:ext cx="8229600" cy="5486400"/>
          </a:xfrm>
          <a:prstGeom prst="rect">
            <a:avLst/>
          </a:prstGeom>
          <a:noFill/>
          <a:ln/>
        </p:spPr>
        <p:txBody>
          <a:bodyPr wrap="square" lIns="63500" tIns="63500" rIns="63500" bIns="63500" rtlCol="0" anchor="ctr"/>
          <a:lstStyle/>
          <a:p>
            <a:pPr marL="0" indent="0" algn="l">
              <a:buNone/>
            </a:pPr>
            <a:r>
              <a:rPr lang="en-US" sz="2400" dirty="0">
                <a:solidFill>
                  <a:schemeClr val="bg1"/>
                </a:solidFill>
                <a:latin typeface="Arial" pitchFamily="34" charset="0"/>
                <a:ea typeface="Arial" pitchFamily="34" charset="-122"/>
                <a:cs typeface="Arial" pitchFamily="34" charset="-120"/>
              </a:rPr>
              <a:t>A lição relaciona esse reconhecimento à condição humana diante do pecado e à necessidade da salvação em Cristo. A justiça de Deus não é um detalhe que podemos afastar da oração; ela nos chama ao arrependimento sincero e à confiança na graça divina.</a:t>
            </a:r>
            <a:endParaRPr lang="en-US" sz="2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o"/>
          <p:cNvSpPr txBox="1"/>
          <p:nvPr/>
        </p:nvSpPr>
        <p:spPr>
          <a:xfrm>
            <a:off x="182880" y="274320"/>
            <a:ext cx="8778240" cy="6309360"/>
          </a:xfrm>
          <a:prstGeom prst="rect">
            <a:avLst/>
          </a:prstGeom>
          <a:noFill/>
          <a:ln/>
        </p:spPr>
        <p:txBody>
          <a:bodyPr wrap="square" lIns="63500" tIns="63500" rIns="63500" bIns="63500" rtlCol="0" anchor="t"/>
          <a:lstStyle/>
          <a:p>
            <a:pPr marL="0" indent="0" algn="l">
              <a:buNone/>
            </a:pPr>
            <a:r>
              <a:rPr lang="en-US" sz="2400" b="1" dirty="0">
                <a:solidFill>
                  <a:schemeClr val="accent1"/>
                </a:solidFill>
                <a:latin typeface="Arial" pitchFamily="34" charset="0"/>
                <a:ea typeface="Arial" pitchFamily="34" charset="-122"/>
                <a:cs typeface="Arial" pitchFamily="34" charset="-120"/>
              </a:rPr>
              <a:t>ILUSTRAÇÃO</a:t>
            </a:r>
            <a:endParaRPr lang="en-US" sz="2400" dirty="0"/>
          </a:p>
          <a:p>
            <a:pPr marL="0" indent="0" algn="l">
              <a:buNone/>
            </a:pPr>
            <a:endParaRPr lang="en-US" sz="2400" dirty="0"/>
          </a:p>
          <a:p>
            <a:pPr marL="0" indent="0" algn="l">
              <a:buNone/>
            </a:pPr>
            <a:r>
              <a:rPr lang="en-US" sz="2400" dirty="0">
                <a:solidFill>
                  <a:schemeClr val="bg1"/>
                </a:solidFill>
                <a:latin typeface="Arial" pitchFamily="34" charset="0"/>
                <a:ea typeface="Arial" pitchFamily="34" charset="-122"/>
                <a:cs typeface="Arial" pitchFamily="34" charset="-120"/>
              </a:rPr>
              <a:t>Daniel compreendeu que o sofrimento do povo não significava que Deus havia falhado, mas que o Senhor estava cumprindo aquilo que havia declarado. Em vez de questionar a justiça de Deus, Daniel reconheceu os pecados do povo e confessou que eles haviam desobedecido ao Senhor (Dn</a:t>
            </a:r>
            <a:r>
              <a:rPr lang="pt-BR" sz="2400" dirty="0">
                <a:solidFill>
                  <a:schemeClr val="bg1"/>
                </a:solidFill>
                <a:latin typeface="Arial" pitchFamily="34" charset="0"/>
                <a:ea typeface="Arial" pitchFamily="34" charset="-122"/>
                <a:cs typeface="Arial" pitchFamily="34" charset="-120"/>
              </a:rPr>
              <a:t>.</a:t>
            </a:r>
            <a:r>
              <a:rPr lang="en-US" sz="2400" dirty="0">
                <a:solidFill>
                  <a:schemeClr val="bg1"/>
                </a:solidFill>
                <a:latin typeface="Arial" pitchFamily="34" charset="0"/>
                <a:ea typeface="Arial" pitchFamily="34" charset="-122"/>
                <a:cs typeface="Arial" pitchFamily="34" charset="-120"/>
              </a:rPr>
              <a:t>9:5-14).</a:t>
            </a:r>
            <a:endParaRPr lang="en-US" sz="2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o"/>
          <p:cNvSpPr txBox="1"/>
          <p:nvPr/>
        </p:nvSpPr>
        <p:spPr>
          <a:xfrm>
            <a:off x="182880" y="274320"/>
            <a:ext cx="8778240" cy="6309360"/>
          </a:xfrm>
          <a:prstGeom prst="rect">
            <a:avLst/>
          </a:prstGeom>
          <a:noFill/>
          <a:ln/>
        </p:spPr>
        <p:txBody>
          <a:bodyPr wrap="square" lIns="63500" tIns="63500" rIns="63500" bIns="63500" rtlCol="0" anchor="t"/>
          <a:lstStyle/>
          <a:p>
            <a:pPr marL="0" indent="0" algn="l">
              <a:buNone/>
            </a:pPr>
            <a:r>
              <a:rPr lang="en-US" sz="2400" b="1" dirty="0">
                <a:solidFill>
                  <a:schemeClr val="accent1"/>
                </a:solidFill>
                <a:latin typeface="Arial" pitchFamily="34" charset="0"/>
                <a:ea typeface="Arial" pitchFamily="34" charset="-122"/>
                <a:cs typeface="Arial" pitchFamily="34" charset="-120"/>
              </a:rPr>
              <a:t>APLICAÇÃO</a:t>
            </a:r>
            <a:endParaRPr lang="en-US" sz="2400" dirty="0"/>
          </a:p>
          <a:p>
            <a:pPr marL="0" indent="0" algn="l">
              <a:buNone/>
            </a:pPr>
            <a:endParaRPr lang="en-US" sz="2400" dirty="0"/>
          </a:p>
          <a:p>
            <a:pPr marL="0" indent="0" algn="l">
              <a:buNone/>
            </a:pPr>
            <a:r>
              <a:rPr lang="en-US" sz="2400" dirty="0">
                <a:solidFill>
                  <a:schemeClr val="bg1"/>
                </a:solidFill>
                <a:latin typeface="Arial" pitchFamily="34" charset="0"/>
                <a:ea typeface="Arial" pitchFamily="34" charset="-122"/>
                <a:cs typeface="Arial" pitchFamily="34" charset="-120"/>
              </a:rPr>
              <a:t>Examine se suas orações incluem confissão e disposição para obedecer e ser transformado.</a:t>
            </a:r>
            <a:endParaRPr lang="en-US" sz="2400" dirty="0"/>
          </a:p>
          <a:p>
            <a:pPr marL="0" indent="0" algn="l">
              <a:buNone/>
            </a:pPr>
            <a:r>
              <a:rPr lang="en-US" sz="2400" dirty="0">
                <a:solidFill>
                  <a:schemeClr val="bg1"/>
                </a:solidFill>
                <a:latin typeface="Arial" pitchFamily="34" charset="0"/>
                <a:ea typeface="Arial" pitchFamily="34" charset="-122"/>
                <a:cs typeface="Arial" pitchFamily="34" charset="-120"/>
              </a:rPr>
              <a:t>Há alguma atitude que a Palavra já mostrou que precisa ser corrigida em você?</a:t>
            </a:r>
            <a:endParaRPr lang="en-US" sz="2400" dirty="0"/>
          </a:p>
          <a:p>
            <a:pPr marL="0" indent="0" algn="l">
              <a:buNone/>
            </a:pPr>
            <a:r>
              <a:rPr lang="en-US" sz="2400" dirty="0">
                <a:solidFill>
                  <a:schemeClr val="bg1"/>
                </a:solidFill>
                <a:latin typeface="Arial" pitchFamily="34" charset="0"/>
                <a:ea typeface="Arial" pitchFamily="34" charset="-122"/>
                <a:cs typeface="Arial" pitchFamily="34" charset="-120"/>
              </a:rPr>
              <a:t>Peça a ajuda de Deus para que você consiga aceitar o confronto daquilo que está errado em nós.</a:t>
            </a:r>
            <a:endParaRPr lang="en-US" sz="2400" dirty="0"/>
          </a:p>
          <a:p>
            <a:pPr marL="0" indent="0" algn="l">
              <a:buNone/>
            </a:pPr>
            <a:endParaRPr lang="en-US" sz="2400" dirty="0"/>
          </a:p>
          <a:p>
            <a:pPr marL="0" indent="0" algn="l">
              <a:buNone/>
            </a:pPr>
            <a:endParaRPr lang="en-US" sz="2400" dirty="0"/>
          </a:p>
          <a:p>
            <a:pPr marL="0" indent="0" algn="l">
              <a:buNone/>
            </a:pPr>
            <a:r>
              <a:rPr lang="en-US" sz="2400" b="1" dirty="0">
                <a:solidFill>
                  <a:schemeClr val="accent1"/>
                </a:solidFill>
                <a:latin typeface="Arial" pitchFamily="34" charset="0"/>
                <a:ea typeface="Arial" pitchFamily="34" charset="-122"/>
                <a:cs typeface="Arial" pitchFamily="34" charset="-120"/>
              </a:rPr>
              <a:t>FRASE-CHAVE</a:t>
            </a:r>
            <a:endParaRPr lang="en-US" sz="2400" dirty="0"/>
          </a:p>
          <a:p>
            <a:pPr marL="0" indent="0" algn="l">
              <a:buNone/>
            </a:pPr>
            <a:r>
              <a:rPr lang="en-US" sz="2400" b="1" dirty="0">
                <a:solidFill>
                  <a:schemeClr val="bg1"/>
                </a:solidFill>
                <a:latin typeface="Arial" pitchFamily="34" charset="0"/>
                <a:ea typeface="Arial" pitchFamily="34" charset="-122"/>
                <a:cs typeface="Arial" pitchFamily="34" charset="-120"/>
              </a:rPr>
              <a:t>→  Orar com humildade é reconhecer a justiça de Deus, mesmo quando ela confronta nossas escolhas.</a:t>
            </a:r>
            <a:endParaRPr lang="en-US" sz="2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1371600"/>
            <a:ext cx="8229600" cy="4114800"/>
          </a:xfrm>
          <a:prstGeom prst="rect">
            <a:avLst/>
          </a:prstGeom>
          <a:noFill/>
          <a:ln/>
        </p:spPr>
        <p:txBody>
          <a:bodyPr wrap="square" rtlCol="0" anchor="ctr"/>
          <a:lstStyle/>
          <a:p>
            <a:pPr marL="0" indent="0" algn="ctr">
              <a:buNone/>
            </a:pPr>
            <a:r>
              <a:rPr lang="en-US" sz="4400" b="1" dirty="0">
                <a:solidFill>
                  <a:schemeClr val="accent1"/>
                </a:solidFill>
                <a:latin typeface="Arial" pitchFamily="34" charset="0"/>
                <a:ea typeface="Arial" pitchFamily="34" charset="-122"/>
                <a:cs typeface="Arial" pitchFamily="34" charset="-120"/>
              </a:rPr>
              <a:t>V. ORAÇÃO INTERCESSORA POR CAUSA DOS NOSSOS PECADOS</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o"/>
          <p:cNvSpPr txBox="1"/>
          <p:nvPr/>
        </p:nvSpPr>
        <p:spPr>
          <a:xfrm>
            <a:off x="182880" y="274320"/>
            <a:ext cx="8778240" cy="6309360"/>
          </a:xfrm>
          <a:prstGeom prst="rect">
            <a:avLst/>
          </a:prstGeom>
          <a:noFill/>
          <a:ln/>
        </p:spPr>
        <p:txBody>
          <a:bodyPr wrap="square" lIns="63500" tIns="63500" rIns="63500" bIns="63500" rtlCol="0" anchor="t"/>
          <a:lstStyle/>
          <a:p>
            <a:pPr marL="0" indent="0" algn="l">
              <a:buNone/>
            </a:pPr>
            <a:r>
              <a:rPr lang="en-US" sz="2400" b="1" dirty="0">
                <a:solidFill>
                  <a:schemeClr val="accent1"/>
                </a:solidFill>
                <a:latin typeface="Arial" pitchFamily="34" charset="0"/>
                <a:ea typeface="Arial" pitchFamily="34" charset="-122"/>
                <a:cs typeface="Arial" pitchFamily="34" charset="-120"/>
              </a:rPr>
              <a:t>VERSÍCULO BASE</a:t>
            </a:r>
            <a:endParaRPr lang="en-US" sz="2400" dirty="0"/>
          </a:p>
          <a:p>
            <a:pPr marL="0" indent="0" algn="l">
              <a:buNone/>
            </a:pPr>
            <a:endParaRPr lang="en-US" sz="2400" dirty="0"/>
          </a:p>
          <a:p>
            <a:pPr marL="0" indent="0" algn="l">
              <a:buNone/>
            </a:pPr>
            <a:r>
              <a:rPr lang="en-US" sz="2400" dirty="0">
                <a:solidFill>
                  <a:schemeClr val="bg1"/>
                </a:solidFill>
                <a:latin typeface="Arial" pitchFamily="34" charset="0"/>
                <a:ea typeface="Arial" pitchFamily="34" charset="-122"/>
                <a:cs typeface="Arial" pitchFamily="34" charset="-120"/>
              </a:rPr>
              <a:t>Daniel 9:5</a:t>
            </a:r>
            <a:r>
              <a:rPr lang="pt-BR" sz="2400" dirty="0">
                <a:solidFill>
                  <a:schemeClr val="bg1"/>
                </a:solidFill>
                <a:latin typeface="Arial" pitchFamily="34" charset="0"/>
                <a:ea typeface="Arial" pitchFamily="34" charset="-122"/>
                <a:cs typeface="Arial" pitchFamily="34" charset="-120"/>
              </a:rPr>
              <a:t>-</a:t>
            </a:r>
            <a:r>
              <a:rPr lang="en-US" sz="2400" dirty="0">
                <a:solidFill>
                  <a:schemeClr val="bg1"/>
                </a:solidFill>
                <a:latin typeface="Arial" pitchFamily="34" charset="0"/>
                <a:ea typeface="Arial" pitchFamily="34" charset="-122"/>
                <a:cs typeface="Arial" pitchFamily="34" charset="-120"/>
              </a:rPr>
              <a:t>6 e 10. Daniel confessa a rebeldia, a desobediência e a resistência do povo à voz do </a:t>
            </a:r>
            <a:r>
              <a:rPr lang="en-US" sz="2400" dirty="0" err="1">
                <a:solidFill>
                  <a:schemeClr val="bg1"/>
                </a:solidFill>
                <a:latin typeface="Arial" pitchFamily="34" charset="0"/>
                <a:ea typeface="Arial" pitchFamily="34" charset="-122"/>
                <a:cs typeface="Arial" pitchFamily="34" charset="-120"/>
              </a:rPr>
              <a:t>Senhor</a:t>
            </a:r>
            <a:r>
              <a:rPr lang="en-US" sz="2400" dirty="0">
                <a:solidFill>
                  <a:schemeClr val="bg1"/>
                </a:solidFill>
                <a:latin typeface="Arial" pitchFamily="34" charset="0"/>
                <a:ea typeface="Arial" pitchFamily="34" charset="-122"/>
                <a:cs typeface="Arial" pitchFamily="34" charset="-120"/>
              </a:rPr>
              <a:t>.</a:t>
            </a:r>
            <a:endParaRPr lang="pt-BR" sz="2400" dirty="0">
              <a:solidFill>
                <a:schemeClr val="bg1"/>
              </a:solidFill>
              <a:latin typeface="Arial" pitchFamily="34" charset="0"/>
              <a:ea typeface="Arial" pitchFamily="34" charset="-122"/>
              <a:cs typeface="Arial" pitchFamily="34" charset="-120"/>
            </a:endParaRPr>
          </a:p>
          <a:p>
            <a:pPr marL="0" indent="0" algn="l">
              <a:buNone/>
            </a:pPr>
            <a:r>
              <a:rPr lang="pt-BR" sz="2400" dirty="0">
                <a:solidFill>
                  <a:schemeClr val="bg1"/>
                </a:solidFill>
                <a:latin typeface="Arial" pitchFamily="34" charset="0"/>
                <a:cs typeface="Arial" pitchFamily="34" charset="-120"/>
              </a:rPr>
              <a:t> </a:t>
            </a:r>
          </a:p>
          <a:p>
            <a:pPr marL="0" indent="0" algn="l">
              <a:buNone/>
            </a:pPr>
            <a:r>
              <a:rPr lang="pt-BR" sz="2400" dirty="0">
                <a:solidFill>
                  <a:schemeClr val="bg1"/>
                </a:solidFill>
                <a:latin typeface="Arial" pitchFamily="34" charset="0"/>
                <a:cs typeface="Arial" pitchFamily="34" charset="-120"/>
              </a:rPr>
              <a:t>Dn.9:5-6. “temos pecado e cometido iniquidades, procedemos perversamente e fomos rebeldes, apartando-nos dos teus mandamentos e dos teus juízos;  6. e não demos ouvidos aos teus servos, os profetas, que em teu nome falaram aos nossos reis, nossos príncipes e nossos pais, como também a todo o povo da terra.” </a:t>
            </a:r>
          </a:p>
          <a:p>
            <a:pPr marL="0" indent="0" algn="l">
              <a:buNone/>
            </a:pPr>
            <a:endParaRPr lang="pt-BR" sz="2400" dirty="0">
              <a:solidFill>
                <a:schemeClr val="bg1"/>
              </a:solidFill>
              <a:latin typeface="Arial" pitchFamily="34" charset="0"/>
              <a:cs typeface="Arial" pitchFamily="34" charset="-120"/>
            </a:endParaRPr>
          </a:p>
          <a:p>
            <a:pPr marL="0" indent="0" algn="l">
              <a:buNone/>
            </a:pPr>
            <a:r>
              <a:rPr lang="pt-BR" sz="2400" dirty="0">
                <a:solidFill>
                  <a:schemeClr val="bg1"/>
                </a:solidFill>
                <a:latin typeface="Arial" pitchFamily="34" charset="0"/>
                <a:cs typeface="Arial" pitchFamily="34" charset="-120"/>
              </a:rPr>
              <a:t>Dn.9:10. “e não obedecemos à voz do Senhor, nosso Deus, para andarmos nas suas leis, que nos deu por intermédio de seus servos, os profetas.”</a:t>
            </a:r>
            <a:endParaRPr lang="en-US" sz="2400" dirty="0"/>
          </a:p>
          <a:p>
            <a:pPr marL="0" indent="0" algn="l">
              <a:buNone/>
            </a:pPr>
            <a:endParaRPr lang="en-US" sz="24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o"/>
          <p:cNvSpPr txBox="1"/>
          <p:nvPr/>
        </p:nvSpPr>
        <p:spPr>
          <a:xfrm>
            <a:off x="457200" y="685800"/>
            <a:ext cx="8229600" cy="5486400"/>
          </a:xfrm>
          <a:prstGeom prst="rect">
            <a:avLst/>
          </a:prstGeom>
          <a:noFill/>
          <a:ln/>
        </p:spPr>
        <p:txBody>
          <a:bodyPr wrap="square" lIns="63500" tIns="63500" rIns="63500" bIns="63500" rtlCol="0" anchor="ctr"/>
          <a:lstStyle/>
          <a:p>
            <a:pPr marL="0" indent="0" algn="l">
              <a:buNone/>
            </a:pPr>
            <a:r>
              <a:rPr lang="en-US" sz="2400" b="1" dirty="0">
                <a:solidFill>
                  <a:schemeClr val="accent1"/>
                </a:solidFill>
                <a:latin typeface="Arial" pitchFamily="34" charset="0"/>
                <a:ea typeface="Arial" pitchFamily="34" charset="-122"/>
                <a:cs typeface="Arial" pitchFamily="34" charset="-120"/>
              </a:rPr>
              <a:t>OBSERVAÇÃO</a:t>
            </a:r>
            <a:endParaRPr lang="en-US" sz="2400" dirty="0"/>
          </a:p>
          <a:p>
            <a:pPr marL="0" indent="0" algn="l">
              <a:buNone/>
            </a:pPr>
            <a:endParaRPr lang="en-US" sz="2400" dirty="0"/>
          </a:p>
          <a:p>
            <a:pPr marL="0" indent="0" algn="l">
              <a:buNone/>
            </a:pPr>
            <a:r>
              <a:rPr lang="en-US" sz="2400" dirty="0">
                <a:solidFill>
                  <a:schemeClr val="bg1"/>
                </a:solidFill>
                <a:latin typeface="Arial" pitchFamily="34" charset="0"/>
                <a:ea typeface="Arial" pitchFamily="34" charset="-122"/>
                <a:cs typeface="Arial" pitchFamily="34" charset="-120"/>
              </a:rPr>
              <a:t>Daniel intercede por seu povo sem assumir uma posição de superioridade. Ele não fala apenas em “eles pecaram”, mas se inclui na confissão coletiva. Sua oração é marcada por reverência, arrependimento e solidariedade com a situação da nação.</a:t>
            </a:r>
            <a:endParaRPr lang="en-US" sz="24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o"/>
          <p:cNvSpPr txBox="1"/>
          <p:nvPr/>
        </p:nvSpPr>
        <p:spPr>
          <a:xfrm>
            <a:off x="182880" y="274320"/>
            <a:ext cx="8778240" cy="6309360"/>
          </a:xfrm>
          <a:prstGeom prst="rect">
            <a:avLst/>
          </a:prstGeom>
          <a:noFill/>
          <a:ln/>
        </p:spPr>
        <p:txBody>
          <a:bodyPr wrap="square" lIns="63500" tIns="63500" rIns="63500" bIns="63500" rtlCol="0" anchor="t"/>
          <a:lstStyle/>
          <a:p>
            <a:pPr marL="0" indent="0" algn="l">
              <a:buNone/>
            </a:pPr>
            <a:r>
              <a:rPr lang="en-US" sz="2400" dirty="0">
                <a:solidFill>
                  <a:schemeClr val="bg1"/>
                </a:solidFill>
                <a:latin typeface="Arial" pitchFamily="34" charset="0"/>
                <a:ea typeface="Arial" pitchFamily="34" charset="-122"/>
                <a:cs typeface="Arial" pitchFamily="34" charset="-120"/>
              </a:rPr>
              <a:t>A lição destaca três manifestações do pecado de Israel: rebeldia contra os mandamentos do Senhor (v. 5); negligência diante dos profetas enviados por Deus (v. 6); e desobediência à voz do Senhor (v. 10). Daniel identifica essas faltas e apresenta a realidade do povo diante de Deus.</a:t>
            </a:r>
            <a:endParaRPr lang="en-US" sz="2400" dirty="0"/>
          </a:p>
          <a:p>
            <a:pPr marL="0" indent="0" algn="l">
              <a:buNone/>
            </a:pPr>
            <a:endParaRPr lang="en-US" sz="2400" dirty="0"/>
          </a:p>
          <a:p>
            <a:pPr marL="0" indent="0" algn="l">
              <a:buNone/>
            </a:pPr>
            <a:r>
              <a:rPr lang="en-US" sz="2400" dirty="0">
                <a:solidFill>
                  <a:schemeClr val="bg1"/>
                </a:solidFill>
                <a:latin typeface="Arial" pitchFamily="34" charset="0"/>
                <a:ea typeface="Arial" pitchFamily="34" charset="-122"/>
                <a:cs typeface="Arial" pitchFamily="34" charset="-120"/>
              </a:rPr>
              <a:t>Interceder é mais do que mencionar uma necessidade. É levar diante de Deus a dor e a condição de outras pessoas com compaixão e perseverança. O exemplo de Daniel nos afasta da oração orgulhosa, que condena o próximo sem reconhecer a própria dependência da misericórdia divina.</a:t>
            </a:r>
            <a:endParaRPr lang="en-US" sz="24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o"/>
          <p:cNvSpPr txBox="1"/>
          <p:nvPr/>
        </p:nvSpPr>
        <p:spPr>
          <a:xfrm>
            <a:off x="182880" y="274320"/>
            <a:ext cx="8778240" cy="6309360"/>
          </a:xfrm>
          <a:prstGeom prst="rect">
            <a:avLst/>
          </a:prstGeom>
          <a:noFill/>
          <a:ln/>
        </p:spPr>
        <p:txBody>
          <a:bodyPr wrap="square" lIns="63500" tIns="63500" rIns="63500" bIns="63500" rtlCol="0" anchor="t"/>
          <a:lstStyle/>
          <a:p>
            <a:pPr marL="0" indent="0" algn="l">
              <a:buNone/>
            </a:pPr>
            <a:r>
              <a:rPr lang="en-US" sz="2400" b="1" dirty="0">
                <a:solidFill>
                  <a:schemeClr val="accent1"/>
                </a:solidFill>
                <a:latin typeface="Arial" pitchFamily="34" charset="0"/>
                <a:ea typeface="Arial" pitchFamily="34" charset="-122"/>
                <a:cs typeface="Arial" pitchFamily="34" charset="-120"/>
              </a:rPr>
              <a:t>ILUSTRAÇÃO</a:t>
            </a:r>
            <a:endParaRPr lang="en-US" sz="2400" dirty="0"/>
          </a:p>
          <a:p>
            <a:pPr marL="0" indent="0" algn="l">
              <a:buNone/>
            </a:pPr>
            <a:endParaRPr lang="en-US" sz="2400" dirty="0"/>
          </a:p>
          <a:p>
            <a:pPr marL="0" indent="0" algn="l">
              <a:buNone/>
            </a:pPr>
            <a:r>
              <a:rPr lang="en-US" sz="2400" dirty="0">
                <a:solidFill>
                  <a:schemeClr val="bg1"/>
                </a:solidFill>
                <a:latin typeface="Arial" pitchFamily="34" charset="0"/>
                <a:ea typeface="Arial" pitchFamily="34" charset="-122"/>
                <a:cs typeface="Arial" pitchFamily="34" charset="-120"/>
              </a:rPr>
              <a:t>Quando uma família enfrenta um problema sério, o cuidado verdadeiro não se limita a apontar quem errou. Os que amam se aproximam, assumem responsabilidade pelo que lhes cabe e procuram restauração. Essa postura ajuda a compreender a atitude solidária de Daniel na intercessão pelo povo.</a:t>
            </a:r>
            <a:endParaRPr lang="en-US" sz="24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o"/>
          <p:cNvSpPr txBox="1"/>
          <p:nvPr/>
        </p:nvSpPr>
        <p:spPr>
          <a:xfrm>
            <a:off x="182880" y="274320"/>
            <a:ext cx="8778240" cy="6309360"/>
          </a:xfrm>
          <a:prstGeom prst="rect">
            <a:avLst/>
          </a:prstGeom>
          <a:noFill/>
          <a:ln/>
        </p:spPr>
        <p:txBody>
          <a:bodyPr wrap="square" lIns="63500" tIns="63500" rIns="63500" bIns="63500" rtlCol="0" anchor="t"/>
          <a:lstStyle/>
          <a:p>
            <a:pPr marL="0" indent="0" algn="l">
              <a:buNone/>
            </a:pPr>
            <a:r>
              <a:rPr lang="en-US" sz="2400" b="1" dirty="0">
                <a:solidFill>
                  <a:schemeClr val="accent1"/>
                </a:solidFill>
                <a:latin typeface="Arial" pitchFamily="34" charset="0"/>
                <a:ea typeface="Arial" pitchFamily="34" charset="-122"/>
                <a:cs typeface="Arial" pitchFamily="34" charset="-120"/>
              </a:rPr>
              <a:t>APLICAÇÃO</a:t>
            </a:r>
            <a:endParaRPr lang="en-US" sz="2400" dirty="0"/>
          </a:p>
          <a:p>
            <a:pPr marL="0" indent="0" algn="l">
              <a:buNone/>
            </a:pPr>
            <a:endParaRPr lang="en-US" sz="2400" dirty="0"/>
          </a:p>
          <a:p>
            <a:pPr marL="0" indent="0" algn="l">
              <a:buNone/>
            </a:pPr>
            <a:r>
              <a:rPr lang="en-US" sz="2400" dirty="0">
                <a:solidFill>
                  <a:schemeClr val="bg1"/>
                </a:solidFill>
                <a:latin typeface="Arial" pitchFamily="34" charset="0"/>
                <a:ea typeface="Arial" pitchFamily="34" charset="-122"/>
                <a:cs typeface="Arial" pitchFamily="34" charset="-120"/>
              </a:rPr>
              <a:t>Ao perceber pecado, sofrimento ou afastamento espiritual em sua comunidade, evite o julgamento arrogante. Ore, reconheça sua própria necessidade de graça e busque formas fiéis e amorosas de contribuir para a restauração do povo do qual você faz parte.</a:t>
            </a:r>
            <a:endParaRPr lang="en-US" sz="24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o"/>
          <p:cNvSpPr txBox="1"/>
          <p:nvPr/>
        </p:nvSpPr>
        <p:spPr>
          <a:xfrm>
            <a:off x="457200" y="685800"/>
            <a:ext cx="8229600" cy="5486400"/>
          </a:xfrm>
          <a:prstGeom prst="rect">
            <a:avLst/>
          </a:prstGeom>
          <a:noFill/>
          <a:ln/>
        </p:spPr>
        <p:txBody>
          <a:bodyPr wrap="square" lIns="63500" tIns="63500" rIns="63500" bIns="63500" rtlCol="0" anchor="ctr"/>
          <a:lstStyle/>
          <a:p>
            <a:pPr marL="0" indent="0" algn="l">
              <a:buNone/>
            </a:pPr>
            <a:r>
              <a:rPr lang="en-US" sz="2400" b="1" dirty="0">
                <a:solidFill>
                  <a:schemeClr val="accent1"/>
                </a:solidFill>
                <a:latin typeface="Arial" pitchFamily="34" charset="0"/>
                <a:ea typeface="Arial" pitchFamily="34" charset="-122"/>
                <a:cs typeface="Arial" pitchFamily="34" charset="-120"/>
              </a:rPr>
              <a:t>FRASE-CHAVE</a:t>
            </a:r>
            <a:endParaRPr lang="en-US" sz="2400" dirty="0"/>
          </a:p>
          <a:p>
            <a:pPr marL="0" indent="0" algn="l">
              <a:buNone/>
            </a:pPr>
            <a:endParaRPr lang="en-US" sz="2400" dirty="0"/>
          </a:p>
          <a:p>
            <a:pPr marL="0" indent="0" algn="l">
              <a:buNone/>
            </a:pPr>
            <a:r>
              <a:rPr lang="en-US" sz="2400" b="1" dirty="0">
                <a:solidFill>
                  <a:schemeClr val="bg1"/>
                </a:solidFill>
                <a:latin typeface="Arial" pitchFamily="34" charset="0"/>
                <a:ea typeface="Arial" pitchFamily="34" charset="-122"/>
                <a:cs typeface="Arial" pitchFamily="34" charset="-120"/>
              </a:rPr>
              <a:t>→  O verdadeiro intercessor não se coloca acima das pessoas; coloca-se diante de Deus em favor delas.</a:t>
            </a:r>
            <a:endParaRPr lang="en-US" sz="24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o"/>
          <p:cNvSpPr txBox="1"/>
          <p:nvPr/>
        </p:nvSpPr>
        <p:spPr>
          <a:xfrm>
            <a:off x="457200" y="685800"/>
            <a:ext cx="8229600" cy="5486400"/>
          </a:xfrm>
          <a:prstGeom prst="rect">
            <a:avLst/>
          </a:prstGeom>
          <a:noFill/>
          <a:ln/>
        </p:spPr>
        <p:txBody>
          <a:bodyPr wrap="square" lIns="63500" tIns="63500" rIns="63500" bIns="63500" rtlCol="0" anchor="ctr"/>
          <a:lstStyle/>
          <a:p>
            <a:pPr marL="0" indent="0" algn="ctr">
              <a:buNone/>
            </a:pPr>
            <a:r>
              <a:rPr lang="en-US" sz="3200" b="1" dirty="0">
                <a:solidFill>
                  <a:schemeClr val="accent1"/>
                </a:solidFill>
                <a:latin typeface="Arial" pitchFamily="34" charset="0"/>
                <a:ea typeface="Arial" pitchFamily="34" charset="-122"/>
                <a:cs typeface="Arial" pitchFamily="34" charset="-120"/>
              </a:rPr>
              <a:t>A igreja já se perguntou porque lutamos tanto pela unidade da igreja?</a:t>
            </a:r>
            <a:endParaRPr lang="en-US" sz="32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1371600"/>
            <a:ext cx="8229600" cy="4114800"/>
          </a:xfrm>
          <a:prstGeom prst="rect">
            <a:avLst/>
          </a:prstGeom>
          <a:noFill/>
          <a:ln/>
        </p:spPr>
        <p:txBody>
          <a:bodyPr wrap="square" rtlCol="0" anchor="ctr"/>
          <a:lstStyle/>
          <a:p>
            <a:pPr marL="0" indent="0" algn="ctr">
              <a:buNone/>
            </a:pPr>
            <a:r>
              <a:rPr lang="en-US" sz="4400" b="1" dirty="0">
                <a:solidFill>
                  <a:schemeClr val="accent1"/>
                </a:solidFill>
                <a:latin typeface="Arial" pitchFamily="34" charset="0"/>
                <a:ea typeface="Arial" pitchFamily="34" charset="-122"/>
                <a:cs typeface="Arial" pitchFamily="34" charset="-120"/>
              </a:rPr>
              <a:t>V</a:t>
            </a:r>
            <a:r>
              <a:rPr lang="pt-BR" sz="4400" b="1" dirty="0">
                <a:solidFill>
                  <a:schemeClr val="accent1"/>
                </a:solidFill>
                <a:latin typeface="Arial" pitchFamily="34" charset="0"/>
                <a:ea typeface="Arial" pitchFamily="34" charset="-122"/>
                <a:cs typeface="Arial" pitchFamily="34" charset="-120"/>
              </a:rPr>
              <a:t>I</a:t>
            </a:r>
            <a:r>
              <a:rPr lang="en-US" sz="4400" b="1" dirty="0">
                <a:solidFill>
                  <a:schemeClr val="accent1"/>
                </a:solidFill>
                <a:latin typeface="Arial" pitchFamily="34" charset="0"/>
                <a:ea typeface="Arial" pitchFamily="34" charset="-122"/>
                <a:cs typeface="Arial" pitchFamily="34" charset="-120"/>
              </a:rPr>
              <a:t>. ORAÇÃO CONFIANTE NA MISERICÓRDIA E NO PERDÃO DE DEUS</a:t>
            </a:r>
          </a:p>
          <a:p>
            <a:pPr marL="0" indent="0" algn="ctr">
              <a:buNone/>
            </a:pPr>
            <a:endParaRPr lang="en-US" sz="44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o"/>
          <p:cNvSpPr txBox="1"/>
          <p:nvPr/>
        </p:nvSpPr>
        <p:spPr>
          <a:xfrm>
            <a:off x="182880" y="274320"/>
            <a:ext cx="8778240" cy="6309360"/>
          </a:xfrm>
          <a:prstGeom prst="rect">
            <a:avLst/>
          </a:prstGeom>
          <a:noFill/>
          <a:ln/>
        </p:spPr>
        <p:txBody>
          <a:bodyPr wrap="square" lIns="63500" tIns="63500" rIns="63500" bIns="63500" rtlCol="0" anchor="t"/>
          <a:lstStyle/>
          <a:p>
            <a:pPr marL="0" indent="0" algn="l">
              <a:buNone/>
            </a:pPr>
            <a:r>
              <a:rPr lang="en-US" sz="2400" b="1" dirty="0">
                <a:solidFill>
                  <a:schemeClr val="accent1"/>
                </a:solidFill>
                <a:latin typeface="Arial" pitchFamily="34" charset="0"/>
                <a:ea typeface="Arial" pitchFamily="34" charset="-122"/>
                <a:cs typeface="Arial" pitchFamily="34" charset="-120"/>
              </a:rPr>
              <a:t>VERSÍCULO BASE</a:t>
            </a:r>
            <a:endParaRPr lang="en-US" sz="2400" dirty="0"/>
          </a:p>
          <a:p>
            <a:pPr marL="0" indent="0" algn="l">
              <a:buNone/>
            </a:pPr>
            <a:endParaRPr lang="en-US" sz="2400" dirty="0"/>
          </a:p>
          <a:p>
            <a:pPr marL="0" indent="0" algn="l">
              <a:buNone/>
            </a:pPr>
            <a:r>
              <a:rPr lang="en-US" sz="2400" dirty="0">
                <a:solidFill>
                  <a:schemeClr val="bg1"/>
                </a:solidFill>
                <a:latin typeface="Arial" pitchFamily="34" charset="0"/>
                <a:ea typeface="Arial" pitchFamily="34" charset="-122"/>
                <a:cs typeface="Arial" pitchFamily="34" charset="-120"/>
              </a:rPr>
              <a:t>Daniel 9:9 e 18</a:t>
            </a:r>
            <a:r>
              <a:rPr lang="pt-BR" sz="2400" dirty="0">
                <a:solidFill>
                  <a:schemeClr val="bg1"/>
                </a:solidFill>
                <a:latin typeface="Arial" pitchFamily="34" charset="0"/>
                <a:ea typeface="Arial" pitchFamily="34" charset="-122"/>
                <a:cs typeface="Arial" pitchFamily="34" charset="-120"/>
              </a:rPr>
              <a:t>-</a:t>
            </a:r>
            <a:r>
              <a:rPr lang="en-US" sz="2400" dirty="0">
                <a:solidFill>
                  <a:schemeClr val="bg1"/>
                </a:solidFill>
                <a:latin typeface="Arial" pitchFamily="34" charset="0"/>
                <a:ea typeface="Arial" pitchFamily="34" charset="-122"/>
                <a:cs typeface="Arial" pitchFamily="34" charset="-120"/>
              </a:rPr>
              <a:t>19. Daniel reconhece a misericórdia e o perdão do Senhor e suplica não com base no mérito do povo, mas na compaixão </a:t>
            </a:r>
            <a:r>
              <a:rPr lang="en-US" sz="2400" dirty="0" err="1">
                <a:solidFill>
                  <a:schemeClr val="bg1"/>
                </a:solidFill>
                <a:latin typeface="Arial" pitchFamily="34" charset="0"/>
                <a:ea typeface="Arial" pitchFamily="34" charset="-122"/>
                <a:cs typeface="Arial" pitchFamily="34" charset="-120"/>
              </a:rPr>
              <a:t>divina</a:t>
            </a:r>
            <a:r>
              <a:rPr lang="en-US" sz="2400" dirty="0">
                <a:solidFill>
                  <a:schemeClr val="bg1"/>
                </a:solidFill>
                <a:latin typeface="Arial" pitchFamily="34" charset="0"/>
                <a:ea typeface="Arial" pitchFamily="34" charset="-122"/>
                <a:cs typeface="Arial" pitchFamily="34" charset="-120"/>
              </a:rPr>
              <a:t>.</a:t>
            </a:r>
            <a:endParaRPr lang="pt-BR" sz="2400" dirty="0">
              <a:solidFill>
                <a:schemeClr val="bg1"/>
              </a:solidFill>
              <a:latin typeface="Arial" pitchFamily="34" charset="0"/>
              <a:ea typeface="Arial" pitchFamily="34" charset="-122"/>
              <a:cs typeface="Arial" pitchFamily="34" charset="-120"/>
            </a:endParaRPr>
          </a:p>
          <a:p>
            <a:pPr marL="0" indent="0" algn="l">
              <a:buNone/>
            </a:pPr>
            <a:endParaRPr lang="pt-BR" sz="2400" dirty="0">
              <a:solidFill>
                <a:schemeClr val="bg1"/>
              </a:solidFill>
              <a:latin typeface="Arial" pitchFamily="34" charset="0"/>
              <a:ea typeface="Arial" pitchFamily="34" charset="-122"/>
              <a:cs typeface="Arial" pitchFamily="34" charset="-120"/>
            </a:endParaRPr>
          </a:p>
          <a:p>
            <a:pPr marL="0" indent="0" algn="l">
              <a:buNone/>
            </a:pPr>
            <a:r>
              <a:rPr lang="pt-BR" sz="2400" dirty="0">
                <a:solidFill>
                  <a:schemeClr val="bg1"/>
                </a:solidFill>
                <a:latin typeface="Arial" pitchFamily="34" charset="0"/>
                <a:cs typeface="Arial" pitchFamily="34" charset="-120"/>
              </a:rPr>
              <a:t> Dn.9:9. “Ao Senhor, nosso Deus, pertence a misericórdia e o perdão, pois nos temos rebelado contra ele”</a:t>
            </a:r>
          </a:p>
          <a:p>
            <a:pPr marL="0" indent="0" algn="l">
              <a:buNone/>
            </a:pPr>
            <a:endParaRPr lang="pt-BR" sz="2400" dirty="0">
              <a:solidFill>
                <a:schemeClr val="bg1"/>
              </a:solidFill>
              <a:latin typeface="Arial" pitchFamily="34" charset="0"/>
              <a:cs typeface="Arial" pitchFamily="34" charset="-120"/>
            </a:endParaRPr>
          </a:p>
          <a:p>
            <a:pPr marL="0" indent="0" algn="l">
              <a:buNone/>
            </a:pPr>
            <a:r>
              <a:rPr lang="pt-BR" sz="2400" dirty="0">
                <a:solidFill>
                  <a:schemeClr val="bg1"/>
                </a:solidFill>
                <a:latin typeface="Arial" pitchFamily="34" charset="0"/>
                <a:cs typeface="Arial" pitchFamily="34" charset="-120"/>
              </a:rPr>
              <a:t> Dn.9:18-19. “Inclina, ó Deus meu, os ouvidos e ouve; abre os olhos e olha para a nossa desolação e para a cidade que é chamada pelo teu nome, porque não lançamos as nossas súplicas perante a tua face fiados em nossas justiças, mas em tuas muitas misericórdias.  19. Ó Senhor, ouve; ó Senhor, perdoa; ó Senhor, atende-nos e age; não te retardes, por amor de ti mesmo, ó Deus meu; porque a tua cidade e o teu povo são chamados pelo teu nome.”</a:t>
            </a:r>
          </a:p>
          <a:p>
            <a:pPr marL="0" indent="0" algn="l">
              <a:buNone/>
            </a:pPr>
            <a:endParaRPr lang="en-US" sz="2400" dirty="0"/>
          </a:p>
          <a:p>
            <a:pPr marL="0" indent="0" algn="l">
              <a:buNone/>
            </a:pPr>
            <a:endParaRPr lang="en-US" sz="24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o"/>
          <p:cNvSpPr txBox="1"/>
          <p:nvPr/>
        </p:nvSpPr>
        <p:spPr>
          <a:xfrm>
            <a:off x="182880" y="274320"/>
            <a:ext cx="8778240" cy="6309360"/>
          </a:xfrm>
          <a:prstGeom prst="rect">
            <a:avLst/>
          </a:prstGeom>
          <a:noFill/>
          <a:ln/>
        </p:spPr>
        <p:txBody>
          <a:bodyPr wrap="square" lIns="63500" tIns="63500" rIns="63500" bIns="63500" rtlCol="0" anchor="t"/>
          <a:lstStyle/>
          <a:p>
            <a:pPr marL="0" indent="0" algn="l">
              <a:buNone/>
            </a:pPr>
            <a:r>
              <a:rPr lang="en-US" sz="2400" b="1" dirty="0">
                <a:solidFill>
                  <a:schemeClr val="accent1"/>
                </a:solidFill>
                <a:latin typeface="Arial" pitchFamily="34" charset="0"/>
                <a:ea typeface="Arial" pitchFamily="34" charset="-122"/>
                <a:cs typeface="Arial" pitchFamily="34" charset="-120"/>
              </a:rPr>
              <a:t>OBSERVAÇÃO</a:t>
            </a:r>
            <a:endParaRPr lang="en-US" sz="2400" dirty="0"/>
          </a:p>
          <a:p>
            <a:pPr marL="0" indent="0" algn="l">
              <a:buNone/>
            </a:pPr>
            <a:endParaRPr lang="en-US" sz="2400" dirty="0"/>
          </a:p>
          <a:p>
            <a:pPr marL="0" indent="0" algn="l">
              <a:buNone/>
            </a:pPr>
            <a:r>
              <a:rPr lang="en-US" sz="2400" dirty="0">
                <a:solidFill>
                  <a:schemeClr val="bg1"/>
                </a:solidFill>
                <a:latin typeface="Arial" pitchFamily="34" charset="0"/>
                <a:ea typeface="Arial" pitchFamily="34" charset="-122"/>
                <a:cs typeface="Arial" pitchFamily="34" charset="-120"/>
              </a:rPr>
              <a:t>Daniel reconhece a gravidade da desobediência do povo, mas não perde a esperança, porque conhece o caráter misericordioso de Deus. Ele não pede restauração porque Israel mereça, mas porque confia na bondade do Senhor.</a:t>
            </a:r>
            <a:endParaRPr lang="en-US" sz="2400" dirty="0"/>
          </a:p>
          <a:p>
            <a:pPr marL="0" indent="0" algn="l">
              <a:buNone/>
            </a:pPr>
            <a:endParaRPr lang="en-US" sz="2400" dirty="0"/>
          </a:p>
          <a:p>
            <a:pPr marL="0" indent="0" algn="l">
              <a:buNone/>
            </a:pPr>
            <a:r>
              <a:rPr lang="en-US" sz="2400" dirty="0">
                <a:solidFill>
                  <a:schemeClr val="bg1"/>
                </a:solidFill>
                <a:latin typeface="Arial" pitchFamily="34" charset="0"/>
                <a:ea typeface="Arial" pitchFamily="34" charset="-122"/>
                <a:cs typeface="Arial" pitchFamily="34" charset="-120"/>
              </a:rPr>
              <a:t>Ao orar, Daniel se lembra daquilo que Deus havia anunciado por meio de Jeremias e suplica que o Senhor volte sua atenção para Jerusalém e para o santuário (Dn</a:t>
            </a:r>
            <a:r>
              <a:rPr lang="pt-BR" sz="2400">
                <a:solidFill>
                  <a:schemeClr val="bg1"/>
                </a:solidFill>
                <a:latin typeface="Arial" pitchFamily="34" charset="0"/>
                <a:ea typeface="Arial" pitchFamily="34" charset="-122"/>
                <a:cs typeface="Arial" pitchFamily="34" charset="-120"/>
              </a:rPr>
              <a:t>.</a:t>
            </a:r>
            <a:r>
              <a:rPr lang="en-US" sz="2400">
                <a:solidFill>
                  <a:schemeClr val="bg1"/>
                </a:solidFill>
                <a:latin typeface="Arial" pitchFamily="34" charset="0"/>
                <a:ea typeface="Arial" pitchFamily="34" charset="-122"/>
                <a:cs typeface="Arial" pitchFamily="34" charset="-120"/>
              </a:rPr>
              <a:t>9:17-19</a:t>
            </a:r>
            <a:r>
              <a:rPr lang="en-US" sz="2400" dirty="0">
                <a:solidFill>
                  <a:schemeClr val="bg1"/>
                </a:solidFill>
                <a:latin typeface="Arial" pitchFamily="34" charset="0"/>
                <a:ea typeface="Arial" pitchFamily="34" charset="-122"/>
                <a:cs typeface="Arial" pitchFamily="34" charset="-120"/>
              </a:rPr>
              <a:t>). Seu pedido não está baseado nos méritos do povo, mas na misericórdia de Deus e na honra do seu nome.</a:t>
            </a:r>
            <a:endParaRPr lang="en-US" sz="24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o"/>
          <p:cNvSpPr txBox="1"/>
          <p:nvPr/>
        </p:nvSpPr>
        <p:spPr>
          <a:xfrm>
            <a:off x="182880" y="274320"/>
            <a:ext cx="8778240" cy="6309360"/>
          </a:xfrm>
          <a:prstGeom prst="rect">
            <a:avLst/>
          </a:prstGeom>
          <a:noFill/>
          <a:ln/>
        </p:spPr>
        <p:txBody>
          <a:bodyPr wrap="square" lIns="63500" tIns="63500" rIns="63500" bIns="63500" rtlCol="0" anchor="t"/>
          <a:lstStyle/>
          <a:p>
            <a:pPr marL="0" indent="0" algn="l">
              <a:buNone/>
            </a:pPr>
            <a:r>
              <a:rPr lang="en-US" sz="2400" dirty="0">
                <a:solidFill>
                  <a:schemeClr val="bg1"/>
                </a:solidFill>
                <a:latin typeface="Arial" pitchFamily="34" charset="0"/>
                <a:ea typeface="Arial" pitchFamily="34" charset="-122"/>
                <a:cs typeface="Arial" pitchFamily="34" charset="-120"/>
              </a:rPr>
              <a:t>Isso nos ensina que reconhecer o pecado não significa desistir de buscar a Deus. Pelo contrário, é reconhecer nossa culpa, abandonar as justificativas e recorrer à misericórdia do Senhor. A misericórdia de Deus não torna o pecado menos grave; ela nos dá esperança para buscar o perdão e a restauração.</a:t>
            </a:r>
            <a:endParaRPr lang="en-US" sz="2400" dirty="0"/>
          </a:p>
          <a:p>
            <a:pPr marL="0" indent="0" algn="l">
              <a:buNone/>
            </a:pPr>
            <a:endParaRPr lang="en-US" sz="2400" dirty="0"/>
          </a:p>
          <a:p>
            <a:pPr marL="0" indent="0" algn="l">
              <a:buNone/>
            </a:pPr>
            <a:r>
              <a:rPr lang="en-US" sz="2400" dirty="0">
                <a:solidFill>
                  <a:schemeClr val="bg1"/>
                </a:solidFill>
                <a:latin typeface="Arial" pitchFamily="34" charset="0"/>
                <a:ea typeface="Arial" pitchFamily="34" charset="-122"/>
                <a:cs typeface="Arial" pitchFamily="34" charset="-120"/>
              </a:rPr>
              <a:t>Daniel também nos ensina que a oração não deve se limitar aos nossos interesses pessoais. Ele clama pela restauração de Jerusalém, porque se importa com aquilo que pertence a Deus. Da mesma forma, precisamos aprender a orar não apenas pelo que desejamos receber, mas também pela restauração da nossa casa e da igreja, para que o nome do Senhor seja honrado e sua vontade se cumpra em nós.</a:t>
            </a:r>
            <a:endParaRPr lang="en-US" sz="24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o"/>
          <p:cNvSpPr txBox="1"/>
          <p:nvPr/>
        </p:nvSpPr>
        <p:spPr>
          <a:xfrm>
            <a:off x="182880" y="274320"/>
            <a:ext cx="8778240" cy="6309360"/>
          </a:xfrm>
          <a:prstGeom prst="rect">
            <a:avLst/>
          </a:prstGeom>
          <a:noFill/>
          <a:ln/>
        </p:spPr>
        <p:txBody>
          <a:bodyPr wrap="square" lIns="63500" tIns="63500" rIns="63500" bIns="63500" rtlCol="0" anchor="t"/>
          <a:lstStyle/>
          <a:p>
            <a:pPr marL="0" indent="0" algn="l">
              <a:buNone/>
            </a:pPr>
            <a:r>
              <a:rPr lang="en-US" sz="2400" b="1" dirty="0">
                <a:solidFill>
                  <a:schemeClr val="accent1"/>
                </a:solidFill>
                <a:latin typeface="Arial" pitchFamily="34" charset="0"/>
                <a:ea typeface="Arial" pitchFamily="34" charset="-122"/>
                <a:cs typeface="Arial" pitchFamily="34" charset="-120"/>
              </a:rPr>
              <a:t>ILUSTRAÇÃO</a:t>
            </a:r>
            <a:endParaRPr lang="en-US" sz="2400" dirty="0"/>
          </a:p>
          <a:p>
            <a:pPr marL="0" indent="0" algn="l">
              <a:buNone/>
            </a:pPr>
            <a:endParaRPr lang="en-US" sz="2400" dirty="0"/>
          </a:p>
          <a:p>
            <a:pPr marL="0" indent="0" algn="l">
              <a:buNone/>
            </a:pPr>
            <a:r>
              <a:rPr lang="en-US" sz="2400" dirty="0">
                <a:solidFill>
                  <a:schemeClr val="bg1"/>
                </a:solidFill>
                <a:latin typeface="Arial" pitchFamily="34" charset="0"/>
                <a:ea typeface="Arial" pitchFamily="34" charset="-122"/>
                <a:cs typeface="Arial" pitchFamily="34" charset="-120"/>
              </a:rPr>
              <a:t>Uma pessoa que sabe que errou não pode exigir perdão como se fosse uma recompensa merecida. Ela pode, porém, pedir misericórdia com sinceridade. Daniel não apresenta as virtudes do povo como argumento decisivo; ele apela para a compaixão e para o nome do Senhor, como um apelo para uma nova oportunidade para o povo escolhido por Deus poder acertar.</a:t>
            </a:r>
            <a:endParaRPr lang="en-US" sz="24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o"/>
          <p:cNvSpPr txBox="1"/>
          <p:nvPr/>
        </p:nvSpPr>
        <p:spPr>
          <a:xfrm>
            <a:off x="182880" y="274320"/>
            <a:ext cx="8778240" cy="6309360"/>
          </a:xfrm>
          <a:prstGeom prst="rect">
            <a:avLst/>
          </a:prstGeom>
          <a:noFill/>
          <a:ln/>
        </p:spPr>
        <p:txBody>
          <a:bodyPr wrap="square" lIns="63500" tIns="63500" rIns="63500" bIns="63500" rtlCol="0" anchor="t"/>
          <a:lstStyle/>
          <a:p>
            <a:pPr marL="0" indent="0" algn="l">
              <a:buNone/>
            </a:pPr>
            <a:r>
              <a:rPr lang="en-US" sz="2400" b="1" dirty="0">
                <a:solidFill>
                  <a:schemeClr val="accent1"/>
                </a:solidFill>
                <a:latin typeface="Arial" pitchFamily="34" charset="0"/>
                <a:ea typeface="Arial" pitchFamily="34" charset="-122"/>
                <a:cs typeface="Arial" pitchFamily="34" charset="-120"/>
              </a:rPr>
              <a:t>APLICAÇÃO</a:t>
            </a:r>
            <a:endParaRPr lang="en-US" sz="2400" dirty="0"/>
          </a:p>
          <a:p>
            <a:pPr marL="0" indent="0" algn="l">
              <a:buNone/>
            </a:pPr>
            <a:endParaRPr lang="en-US" sz="2400" dirty="0"/>
          </a:p>
          <a:p>
            <a:pPr marL="0" indent="0" algn="l">
              <a:buNone/>
            </a:pPr>
            <a:r>
              <a:rPr lang="en-US" sz="2400" dirty="0">
                <a:solidFill>
                  <a:schemeClr val="bg1"/>
                </a:solidFill>
                <a:latin typeface="Arial" pitchFamily="34" charset="0"/>
                <a:ea typeface="Arial" pitchFamily="34" charset="-122"/>
                <a:cs typeface="Arial" pitchFamily="34" charset="-120"/>
              </a:rPr>
              <a:t>Apresente suas necessidades a Deus com confiança, mas sem exigir que Ele siga seus planos. Pergunte se sua oração expressa arrependimento e preocupação com a honra do nome de Deus, além do desejo de receber uma resposta.</a:t>
            </a:r>
            <a:endParaRPr lang="en-US" sz="2400" dirty="0"/>
          </a:p>
          <a:p>
            <a:pPr marL="0" indent="0" algn="l">
              <a:buNone/>
            </a:pPr>
            <a:endParaRPr lang="en-US" sz="2400" dirty="0"/>
          </a:p>
          <a:p>
            <a:pPr marL="0" indent="0" algn="l">
              <a:buNone/>
            </a:pPr>
            <a:endParaRPr lang="en-US" sz="2400" dirty="0"/>
          </a:p>
          <a:p>
            <a:pPr marL="0" indent="0" algn="l">
              <a:buNone/>
            </a:pPr>
            <a:r>
              <a:rPr lang="en-US" sz="2400" b="1" dirty="0">
                <a:solidFill>
                  <a:schemeClr val="accent1"/>
                </a:solidFill>
                <a:latin typeface="Arial" pitchFamily="34" charset="0"/>
                <a:ea typeface="Arial" pitchFamily="34" charset="-122"/>
                <a:cs typeface="Arial" pitchFamily="34" charset="-120"/>
              </a:rPr>
              <a:t>FRASE-CHAVE</a:t>
            </a:r>
            <a:endParaRPr lang="en-US" sz="2400" dirty="0"/>
          </a:p>
          <a:p>
            <a:pPr marL="0" indent="0" algn="l">
              <a:buNone/>
            </a:pPr>
            <a:r>
              <a:rPr lang="en-US" sz="2400" b="1" dirty="0">
                <a:solidFill>
                  <a:schemeClr val="bg1"/>
                </a:solidFill>
                <a:latin typeface="Arial" pitchFamily="34" charset="0"/>
                <a:ea typeface="Arial" pitchFamily="34" charset="-122"/>
                <a:cs typeface="Arial" pitchFamily="34" charset="-120"/>
              </a:rPr>
              <a:t>→  Nossa confiança na oração não está no que merecemos, mas na misericórdia de Deus.</a:t>
            </a:r>
            <a:endParaRPr lang="en-US" sz="24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1371600"/>
            <a:ext cx="8229600" cy="4114800"/>
          </a:xfrm>
          <a:prstGeom prst="rect">
            <a:avLst/>
          </a:prstGeom>
          <a:noFill/>
          <a:ln/>
        </p:spPr>
        <p:txBody>
          <a:bodyPr wrap="square" rtlCol="0" anchor="ctr"/>
          <a:lstStyle/>
          <a:p>
            <a:pPr marL="0" indent="0" algn="ctr">
              <a:buNone/>
            </a:pPr>
            <a:r>
              <a:rPr lang="en-US" sz="4400" b="1" dirty="0">
                <a:solidFill>
                  <a:schemeClr val="accent1"/>
                </a:solidFill>
                <a:latin typeface="Arial" pitchFamily="34" charset="0"/>
                <a:ea typeface="Arial" pitchFamily="34" charset="-122"/>
                <a:cs typeface="Arial" pitchFamily="34" charset="-120"/>
              </a:rPr>
              <a:t>CONCLUSÃO: ORAR CONFORME A PALAVRA</a:t>
            </a:r>
            <a:endParaRPr lang="en-US" sz="4400" dirty="0"/>
          </a:p>
          <a:p>
            <a:pPr marL="0" indent="0" algn="ctr">
              <a:buNone/>
            </a:pPr>
            <a:endParaRPr lang="en-US" sz="44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o"/>
          <p:cNvSpPr txBox="1"/>
          <p:nvPr/>
        </p:nvSpPr>
        <p:spPr>
          <a:xfrm>
            <a:off x="182880" y="274320"/>
            <a:ext cx="8778240" cy="6309360"/>
          </a:xfrm>
          <a:prstGeom prst="rect">
            <a:avLst/>
          </a:prstGeom>
          <a:noFill/>
          <a:ln/>
        </p:spPr>
        <p:txBody>
          <a:bodyPr wrap="square" lIns="63500" tIns="63500" rIns="63500" bIns="63500" rtlCol="0" anchor="t"/>
          <a:lstStyle/>
          <a:p>
            <a:pPr marL="0" indent="0" algn="l">
              <a:buNone/>
            </a:pPr>
            <a:r>
              <a:rPr lang="en-US" sz="2400" b="1" dirty="0">
                <a:solidFill>
                  <a:schemeClr val="accent1"/>
                </a:solidFill>
                <a:latin typeface="Arial" pitchFamily="34" charset="0"/>
                <a:ea typeface="Arial" pitchFamily="34" charset="-122"/>
                <a:cs typeface="Arial" pitchFamily="34" charset="-120"/>
              </a:rPr>
              <a:t>VERSÍCULO BASE</a:t>
            </a:r>
            <a:endParaRPr lang="en-US" sz="2400" dirty="0"/>
          </a:p>
          <a:p>
            <a:pPr marL="0" indent="0" algn="l">
              <a:buNone/>
            </a:pPr>
            <a:endParaRPr lang="en-US" sz="2400" dirty="0"/>
          </a:p>
          <a:p>
            <a:pPr marL="0" indent="0" algn="l">
              <a:buNone/>
            </a:pPr>
            <a:r>
              <a:rPr lang="en-US" sz="2400" dirty="0">
                <a:solidFill>
                  <a:schemeClr val="bg1"/>
                </a:solidFill>
                <a:latin typeface="Arial" pitchFamily="34" charset="0"/>
                <a:ea typeface="Arial" pitchFamily="34" charset="-122"/>
                <a:cs typeface="Arial" pitchFamily="34" charset="-120"/>
              </a:rPr>
              <a:t>Daniel 9:2</a:t>
            </a:r>
            <a:r>
              <a:rPr lang="pt-BR" sz="2400" dirty="0">
                <a:solidFill>
                  <a:schemeClr val="bg1"/>
                </a:solidFill>
                <a:latin typeface="Arial" pitchFamily="34" charset="0"/>
                <a:ea typeface="Arial" pitchFamily="34" charset="-122"/>
                <a:cs typeface="Arial" pitchFamily="34" charset="-120"/>
              </a:rPr>
              <a:t>-</a:t>
            </a:r>
            <a:r>
              <a:rPr lang="en-US" sz="2400" dirty="0">
                <a:solidFill>
                  <a:schemeClr val="bg1"/>
                </a:solidFill>
                <a:latin typeface="Arial" pitchFamily="34" charset="0"/>
                <a:ea typeface="Arial" pitchFamily="34" charset="-122"/>
                <a:cs typeface="Arial" pitchFamily="34" charset="-120"/>
              </a:rPr>
              <a:t>3 e 18</a:t>
            </a:r>
            <a:r>
              <a:rPr lang="pt-BR" sz="2400">
                <a:solidFill>
                  <a:schemeClr val="bg1"/>
                </a:solidFill>
                <a:latin typeface="Arial" pitchFamily="34" charset="0"/>
                <a:ea typeface="Arial" pitchFamily="34" charset="-122"/>
                <a:cs typeface="Arial" pitchFamily="34" charset="-120"/>
              </a:rPr>
              <a:t>-</a:t>
            </a:r>
            <a:r>
              <a:rPr lang="en-US" sz="2400">
                <a:solidFill>
                  <a:schemeClr val="bg1"/>
                </a:solidFill>
                <a:latin typeface="Arial" pitchFamily="34" charset="0"/>
                <a:ea typeface="Arial" pitchFamily="34" charset="-122"/>
                <a:cs typeface="Arial" pitchFamily="34" charset="-120"/>
              </a:rPr>
              <a:t>19</a:t>
            </a:r>
            <a:r>
              <a:rPr lang="en-US" sz="2400" dirty="0">
                <a:solidFill>
                  <a:schemeClr val="bg1"/>
                </a:solidFill>
                <a:latin typeface="Arial" pitchFamily="34" charset="0"/>
                <a:ea typeface="Arial" pitchFamily="34" charset="-122"/>
                <a:cs typeface="Arial" pitchFamily="34" charset="-120"/>
              </a:rPr>
              <a:t>. </a:t>
            </a:r>
            <a:r>
              <a:rPr lang="pt-BR" sz="2400" dirty="0">
                <a:solidFill>
                  <a:schemeClr val="bg1"/>
                </a:solidFill>
                <a:latin typeface="Arial" pitchFamily="34" charset="0"/>
                <a:ea typeface="Arial" pitchFamily="34" charset="-122"/>
                <a:cs typeface="Arial" pitchFamily="34" charset="-120"/>
              </a:rPr>
              <a:t> </a:t>
            </a:r>
            <a:r>
              <a:rPr lang="en-US" sz="2400" dirty="0">
                <a:solidFill>
                  <a:schemeClr val="bg1"/>
                </a:solidFill>
                <a:latin typeface="Arial" pitchFamily="34" charset="0"/>
                <a:ea typeface="Arial" pitchFamily="34" charset="-122"/>
                <a:cs typeface="Arial" pitchFamily="34" charset="-120"/>
              </a:rPr>
              <a:t>A oração de Daniel parte da compreensão das Escrituras e culmina na súplica confiante pela misericórdia de Deus.</a:t>
            </a:r>
            <a:endParaRPr lang="en-US" sz="24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o"/>
          <p:cNvSpPr txBox="1"/>
          <p:nvPr/>
        </p:nvSpPr>
        <p:spPr>
          <a:xfrm>
            <a:off x="182880" y="274320"/>
            <a:ext cx="8778240" cy="6309360"/>
          </a:xfrm>
          <a:prstGeom prst="rect">
            <a:avLst/>
          </a:prstGeom>
          <a:noFill/>
          <a:ln/>
        </p:spPr>
        <p:txBody>
          <a:bodyPr wrap="square" lIns="63500" tIns="63500" rIns="63500" bIns="63500" rtlCol="0" anchor="t"/>
          <a:lstStyle/>
          <a:p>
            <a:pPr marL="0" indent="0" algn="l">
              <a:buNone/>
            </a:pPr>
            <a:r>
              <a:rPr lang="en-US" sz="2400" b="1" dirty="0">
                <a:solidFill>
                  <a:schemeClr val="accent1"/>
                </a:solidFill>
                <a:latin typeface="Arial" pitchFamily="34" charset="0"/>
                <a:ea typeface="Arial" pitchFamily="34" charset="-122"/>
                <a:cs typeface="Arial" pitchFamily="34" charset="-120"/>
              </a:rPr>
              <a:t>OBSERVAÇÃO</a:t>
            </a:r>
            <a:endParaRPr lang="en-US" sz="2400" dirty="0"/>
          </a:p>
          <a:p>
            <a:pPr marL="0" indent="0" algn="l">
              <a:buNone/>
            </a:pPr>
            <a:endParaRPr lang="en-US" sz="2400" dirty="0"/>
          </a:p>
          <a:p>
            <a:pPr marL="0" indent="0" algn="l">
              <a:buNone/>
            </a:pPr>
            <a:r>
              <a:rPr lang="en-US" sz="2400" dirty="0">
                <a:solidFill>
                  <a:schemeClr val="bg1"/>
                </a:solidFill>
                <a:latin typeface="Arial" pitchFamily="34" charset="0"/>
                <a:ea typeface="Arial" pitchFamily="34" charset="-122"/>
                <a:cs typeface="Arial" pitchFamily="34" charset="-120"/>
              </a:rPr>
              <a:t>A oração de Daniel apresenta um percurso que merece orientar nossa vida: ele lê a Palavra, reconhece quem Deus é, confia em sua fidelidade, admite a justiça divina, intercede pelos pecados do povo e suplica por misericórdia.</a:t>
            </a:r>
            <a:endParaRPr lang="en-US" sz="2400" dirty="0"/>
          </a:p>
          <a:p>
            <a:pPr marL="0" indent="0" algn="l">
              <a:buNone/>
            </a:pPr>
            <a:endParaRPr lang="en-US" sz="2400" dirty="0"/>
          </a:p>
          <a:p>
            <a:pPr marL="0" indent="0" algn="l">
              <a:buNone/>
            </a:pPr>
            <a:r>
              <a:rPr lang="en-US" sz="2400" dirty="0">
                <a:solidFill>
                  <a:schemeClr val="bg1"/>
                </a:solidFill>
                <a:latin typeface="Arial" pitchFamily="34" charset="0"/>
                <a:ea typeface="Arial" pitchFamily="34" charset="-122"/>
                <a:cs typeface="Arial" pitchFamily="34" charset="-120"/>
              </a:rPr>
              <a:t>Esses movimentos mostram que a oração não é um mecanismo para fazer Deus confirmar nossos desejos. Ela é uma resposta de fé à revelação do Senhor. Quando a Palavra governa nossas orações, nossos sentimentos e circunstâncias são colocados na perspectiva correta.</a:t>
            </a:r>
            <a:endParaRPr lang="en-US" sz="24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o"/>
          <p:cNvSpPr txBox="1"/>
          <p:nvPr/>
        </p:nvSpPr>
        <p:spPr>
          <a:xfrm>
            <a:off x="182880" y="274320"/>
            <a:ext cx="8778240" cy="6309360"/>
          </a:xfrm>
          <a:prstGeom prst="rect">
            <a:avLst/>
          </a:prstGeom>
          <a:noFill/>
          <a:ln/>
        </p:spPr>
        <p:txBody>
          <a:bodyPr wrap="square" lIns="63500" tIns="63500" rIns="63500" bIns="63500" rtlCol="0" anchor="t"/>
          <a:lstStyle/>
          <a:p>
            <a:pPr marL="0" indent="0" algn="l">
              <a:buNone/>
            </a:pPr>
            <a:r>
              <a:rPr lang="en-US" sz="2400" b="1" dirty="0">
                <a:solidFill>
                  <a:schemeClr val="accent1"/>
                </a:solidFill>
                <a:latin typeface="Arial" pitchFamily="34" charset="0"/>
                <a:ea typeface="Arial" pitchFamily="34" charset="-122"/>
                <a:cs typeface="Arial" pitchFamily="34" charset="-120"/>
              </a:rPr>
              <a:t>PODEMOS RESUMIR O ENSINO EM CINCO CARACTERÍSTICAS:</a:t>
            </a:r>
            <a:endParaRPr lang="en-US" sz="2400" dirty="0"/>
          </a:p>
          <a:p>
            <a:pPr marL="0" indent="0" algn="l">
              <a:buNone/>
            </a:pPr>
            <a:endParaRPr lang="en-US" sz="2400" dirty="0"/>
          </a:p>
          <a:p>
            <a:pPr marL="0" indent="0" algn="l">
              <a:buNone/>
            </a:pPr>
            <a:r>
              <a:rPr lang="en-US" sz="2400" dirty="0">
                <a:solidFill>
                  <a:schemeClr val="bg1"/>
                </a:solidFill>
                <a:latin typeface="Arial" pitchFamily="34" charset="0"/>
                <a:ea typeface="Arial" pitchFamily="34" charset="-122"/>
                <a:cs typeface="Arial" pitchFamily="34" charset="-120"/>
              </a:rPr>
              <a:t>✔  Oração centrada no caráter de Deus</a:t>
            </a:r>
            <a:endParaRPr lang="en-US" sz="2400" dirty="0"/>
          </a:p>
          <a:p>
            <a:pPr marL="0" indent="0" algn="l">
              <a:buNone/>
            </a:pPr>
            <a:r>
              <a:rPr lang="en-US" sz="2400" dirty="0">
                <a:solidFill>
                  <a:schemeClr val="bg1"/>
                </a:solidFill>
                <a:latin typeface="Arial" pitchFamily="34" charset="0"/>
                <a:ea typeface="Arial" pitchFamily="34" charset="-122"/>
                <a:cs typeface="Arial" pitchFamily="34" charset="-120"/>
              </a:rPr>
              <a:t>✔  Esperançosa por sua fidelidade</a:t>
            </a:r>
            <a:endParaRPr lang="en-US" sz="2400" dirty="0"/>
          </a:p>
          <a:p>
            <a:pPr marL="0" indent="0" algn="l">
              <a:buNone/>
            </a:pPr>
            <a:r>
              <a:rPr lang="en-US" sz="2400" dirty="0">
                <a:solidFill>
                  <a:schemeClr val="bg1"/>
                </a:solidFill>
                <a:latin typeface="Arial" pitchFamily="34" charset="0"/>
                <a:ea typeface="Arial" pitchFamily="34" charset="-122"/>
                <a:cs typeface="Arial" pitchFamily="34" charset="-120"/>
              </a:rPr>
              <a:t>✔  Consciente de sua justiça</a:t>
            </a:r>
            <a:endParaRPr lang="en-US" sz="2400" dirty="0"/>
          </a:p>
          <a:p>
            <a:pPr marL="0" indent="0" algn="l">
              <a:buNone/>
            </a:pPr>
            <a:r>
              <a:rPr lang="en-US" sz="2400" dirty="0">
                <a:solidFill>
                  <a:schemeClr val="bg1"/>
                </a:solidFill>
                <a:latin typeface="Arial" pitchFamily="34" charset="0"/>
                <a:ea typeface="Arial" pitchFamily="34" charset="-122"/>
                <a:cs typeface="Arial" pitchFamily="34" charset="-120"/>
              </a:rPr>
              <a:t>✔  Intercessora diante do pecado</a:t>
            </a:r>
            <a:endParaRPr lang="en-US" sz="2400" dirty="0"/>
          </a:p>
          <a:p>
            <a:pPr marL="0" indent="0" algn="l">
              <a:buNone/>
            </a:pPr>
            <a:r>
              <a:rPr lang="en-US" sz="2400" dirty="0">
                <a:solidFill>
                  <a:schemeClr val="bg1"/>
                </a:solidFill>
                <a:latin typeface="Arial" pitchFamily="34" charset="0"/>
                <a:ea typeface="Arial" pitchFamily="34" charset="-122"/>
                <a:cs typeface="Arial" pitchFamily="34" charset="-120"/>
              </a:rPr>
              <a:t>✔  Confiante em sua misericórdia e perdão</a:t>
            </a:r>
            <a:endParaRPr lang="en-US" sz="24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o"/>
          <p:cNvSpPr txBox="1"/>
          <p:nvPr/>
        </p:nvSpPr>
        <p:spPr>
          <a:xfrm>
            <a:off x="182880" y="274320"/>
            <a:ext cx="8778240" cy="6309360"/>
          </a:xfrm>
          <a:prstGeom prst="rect">
            <a:avLst/>
          </a:prstGeom>
          <a:noFill/>
          <a:ln/>
        </p:spPr>
        <p:txBody>
          <a:bodyPr wrap="square" lIns="63500" tIns="63500" rIns="63500" bIns="63500" rtlCol="0" anchor="t"/>
          <a:lstStyle/>
          <a:p>
            <a:pPr marL="0" indent="0" algn="l">
              <a:buNone/>
            </a:pPr>
            <a:r>
              <a:rPr lang="en-US" sz="2400" b="1" dirty="0">
                <a:solidFill>
                  <a:schemeClr val="accent1"/>
                </a:solidFill>
                <a:latin typeface="Arial" pitchFamily="34" charset="0"/>
                <a:ea typeface="Arial" pitchFamily="34" charset="-122"/>
                <a:cs typeface="Arial" pitchFamily="34" charset="-120"/>
              </a:rPr>
              <a:t>ILUSTRAÇÃO</a:t>
            </a:r>
            <a:endParaRPr lang="en-US" sz="2400" dirty="0"/>
          </a:p>
          <a:p>
            <a:pPr marL="0" indent="0" algn="l">
              <a:buNone/>
            </a:pPr>
            <a:endParaRPr lang="en-US" sz="2400" dirty="0"/>
          </a:p>
          <a:p>
            <a:pPr marL="0" indent="0" algn="l">
              <a:buNone/>
            </a:pPr>
            <a:r>
              <a:rPr lang="en-US" sz="2400" dirty="0">
                <a:solidFill>
                  <a:schemeClr val="bg1"/>
                </a:solidFill>
                <a:latin typeface="Arial" pitchFamily="34" charset="0"/>
                <a:ea typeface="Arial" pitchFamily="34" charset="-122"/>
                <a:cs typeface="Arial" pitchFamily="34" charset="-120"/>
              </a:rPr>
              <a:t>Assim como uma construção precisa de um alicerce firme, uma vida de oração precisa de fundamento. Se estiver apoiada apenas nos sentimentos, oscilará com eles. Quando estiver firmada no conhecimento do Deus revelado nas Escrituras, encontrará direção até em tempos difíceis.</a:t>
            </a:r>
            <a:endParaRPr lang="en-US" sz="24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o"/>
          <p:cNvSpPr txBox="1"/>
          <p:nvPr/>
        </p:nvSpPr>
        <p:spPr>
          <a:xfrm>
            <a:off x="182880" y="274320"/>
            <a:ext cx="8778240" cy="6309360"/>
          </a:xfrm>
          <a:prstGeom prst="rect">
            <a:avLst/>
          </a:prstGeom>
          <a:noFill/>
          <a:ln/>
        </p:spPr>
        <p:txBody>
          <a:bodyPr wrap="square" lIns="63500" tIns="63500" rIns="63500" bIns="63500" rtlCol="0" anchor="t"/>
          <a:lstStyle/>
          <a:p>
            <a:pPr marL="0" indent="0" algn="l">
              <a:buNone/>
            </a:pPr>
            <a:r>
              <a:rPr lang="en-US" sz="2400" b="1" dirty="0">
                <a:solidFill>
                  <a:schemeClr val="accent1"/>
                </a:solidFill>
                <a:latin typeface="Arial" pitchFamily="34" charset="0"/>
                <a:ea typeface="Arial" pitchFamily="34" charset="-122"/>
                <a:cs typeface="Arial" pitchFamily="34" charset="-120"/>
              </a:rPr>
              <a:t>APLICAÇÃO</a:t>
            </a:r>
            <a:endParaRPr lang="en-US" sz="2400" dirty="0"/>
          </a:p>
          <a:p>
            <a:pPr marL="0" indent="0" algn="l">
              <a:buNone/>
            </a:pPr>
            <a:endParaRPr lang="en-US" sz="2400" dirty="0"/>
          </a:p>
          <a:p>
            <a:pPr marL="0" indent="0" algn="l">
              <a:buNone/>
            </a:pPr>
            <a:r>
              <a:rPr lang="en-US" sz="2400" dirty="0">
                <a:solidFill>
                  <a:schemeClr val="bg1"/>
                </a:solidFill>
                <a:latin typeface="Arial" pitchFamily="34" charset="0"/>
                <a:ea typeface="Arial" pitchFamily="34" charset="-122"/>
                <a:cs typeface="Arial" pitchFamily="34" charset="-120"/>
              </a:rPr>
              <a:t>Considere o que a palavra revela sobre o Senhor e então ore a partir dessa compreensão, e encerre pedindo a Deus um coração atento ao que diz nas escrituras.</a:t>
            </a:r>
            <a:endParaRPr lang="en-US" sz="2400" dirty="0"/>
          </a:p>
          <a:p>
            <a:pPr marL="0" indent="0" algn="l">
              <a:buNone/>
            </a:pPr>
            <a:endParaRPr lang="en-US" sz="2400" dirty="0"/>
          </a:p>
          <a:p>
            <a:pPr marL="0" indent="0" algn="l">
              <a:buNone/>
            </a:pPr>
            <a:endParaRPr lang="en-US" sz="2400" dirty="0"/>
          </a:p>
          <a:p>
            <a:pPr marL="0" indent="0" algn="l">
              <a:buNone/>
            </a:pPr>
            <a:r>
              <a:rPr lang="en-US" sz="2400" b="1" dirty="0">
                <a:solidFill>
                  <a:schemeClr val="accent1"/>
                </a:solidFill>
                <a:latin typeface="Arial" pitchFamily="34" charset="0"/>
                <a:ea typeface="Arial" pitchFamily="34" charset="-122"/>
                <a:cs typeface="Arial" pitchFamily="34" charset="-120"/>
              </a:rPr>
              <a:t>FRASE-CHAVE</a:t>
            </a:r>
            <a:endParaRPr lang="en-US" sz="2400" dirty="0"/>
          </a:p>
          <a:p>
            <a:pPr marL="0" indent="0" algn="l">
              <a:buNone/>
            </a:pPr>
            <a:r>
              <a:rPr lang="en-US" sz="2400" b="1" dirty="0">
                <a:solidFill>
                  <a:schemeClr val="bg1"/>
                </a:solidFill>
                <a:latin typeface="Arial" pitchFamily="34" charset="0"/>
                <a:ea typeface="Arial" pitchFamily="34" charset="-122"/>
                <a:cs typeface="Arial" pitchFamily="34" charset="-120"/>
              </a:rPr>
              <a:t>→  A Palavra de Deus não é apenas um apoio para nossas orações; é o fundamento que lhes dá direção.</a:t>
            </a:r>
            <a:endParaRPr lang="en-US" sz="24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1371600"/>
            <a:ext cx="8229600" cy="4114800"/>
          </a:xfrm>
          <a:prstGeom prst="rect">
            <a:avLst/>
          </a:prstGeom>
          <a:noFill/>
          <a:ln/>
        </p:spPr>
        <p:txBody>
          <a:bodyPr wrap="square" rtlCol="0" anchor="ctr"/>
          <a:lstStyle/>
          <a:p>
            <a:pPr marL="0" indent="0" algn="ctr">
              <a:buNone/>
            </a:pPr>
            <a:r>
              <a:rPr lang="en-US" sz="18000" b="1" dirty="0">
                <a:solidFill>
                  <a:schemeClr val="accent1"/>
                </a:solidFill>
                <a:latin typeface="Arial" pitchFamily="34" charset="0"/>
                <a:ea typeface="Arial" pitchFamily="34" charset="-122"/>
                <a:cs typeface="Arial" pitchFamily="34" charset="-120"/>
              </a:rPr>
              <a:t>FIM</a:t>
            </a:r>
            <a:endParaRPr lang="en-US" sz="4400" dirty="0"/>
          </a:p>
        </p:txBody>
      </p:sp>
    </p:spTree>
  </p:cSld>
  <p:clrMapOvr>
    <a:masterClrMapping/>
  </p:clrMapOvr>
</p:sld>
</file>

<file path=ppt/theme/theme1.xml><?xml version="1.0" encoding="utf-8"?>
<a:theme xmlns:a="http://schemas.openxmlformats.org/drawingml/2006/main" name="Aula Oração">
  <a:themeElements>
    <a:clrScheme name="Aula Oração">
      <a:dk1>
        <a:srgbClr val="000000"/>
      </a:dk1>
      <a:lt1>
        <a:srgbClr val="FFFFFF"/>
      </a:lt1>
      <a:dk2>
        <a:srgbClr val="000000"/>
      </a:dk2>
      <a:lt2>
        <a:srgbClr val="D9D9D9"/>
      </a:lt2>
      <a:accent1>
        <a:srgbClr val="FFFF00"/>
      </a:accent1>
      <a:accent2>
        <a:srgbClr val="FFFFFF"/>
      </a:accent2>
      <a:accent3>
        <a:srgbClr val="BFBFBF"/>
      </a:accent3>
      <a:accent4>
        <a:srgbClr val="FFC000"/>
      </a:accent4>
      <a:accent5>
        <a:srgbClr val="7F7F7F"/>
      </a:accent5>
      <a:accent6>
        <a:srgbClr val="404040"/>
      </a:accent6>
      <a:hlink>
        <a:srgbClr val="FFFF00"/>
      </a:hlink>
      <a:folHlink>
        <a:srgbClr val="FFC000"/>
      </a:folHlink>
    </a:clrScheme>
    <a:fontScheme name="Aula Oração">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TotalTime>
  <Words>6368</Words>
  <Application>Microsoft Office PowerPoint</Application>
  <PresentationFormat>Apresentação na tela (4:3)</PresentationFormat>
  <Paragraphs>323</Paragraphs>
  <Slides>58</Slides>
  <Notes>58</Notes>
  <HiddenSlides>0</HiddenSlides>
  <MMClips>0</MMClips>
  <ScaleCrop>false</ScaleCrop>
  <HeadingPairs>
    <vt:vector size="6" baseType="variant">
      <vt:variant>
        <vt:lpstr>Fontes usadas</vt:lpstr>
      </vt:variant>
      <vt:variant>
        <vt:i4>2</vt:i4>
      </vt:variant>
      <vt:variant>
        <vt:lpstr>Tema</vt:lpstr>
      </vt:variant>
      <vt:variant>
        <vt:i4>1</vt:i4>
      </vt:variant>
      <vt:variant>
        <vt:lpstr>Títulos de slides</vt:lpstr>
      </vt:variant>
      <vt:variant>
        <vt:i4>58</vt:i4>
      </vt:variant>
    </vt:vector>
  </HeadingPairs>
  <TitlesOfParts>
    <vt:vector size="61" baseType="lpstr">
      <vt:lpstr>Aptos</vt:lpstr>
      <vt:lpstr>Arial</vt:lpstr>
      <vt:lpstr>Aula Oração</vt:lpstr>
      <vt:lpstr>“DANIEL ORA CONFORME A PALAVRA DE DEUS” ( Dn.9:2 )</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I- INTRODUÇÃO: A ORAÇÃO QUE NASCE DA PALAVRA </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II. ORAÇÃO CENTRADA NO CARÁTER DE DEUS </vt:lpstr>
      <vt:lpstr>Apresentação do PowerPoint</vt:lpstr>
      <vt:lpstr>Apresentação do PowerPoint</vt:lpstr>
      <vt:lpstr>Apresentação do PowerPoint</vt:lpstr>
      <vt:lpstr>Apresentação do PowerPoint</vt:lpstr>
      <vt:lpstr>Apresentação do PowerPoint</vt:lpstr>
      <vt:lpstr>III. ORAÇÃO ESPERANÇOSA POR CAUSA DA FIDELIDADE DE DEUS </vt:lpstr>
      <vt:lpstr>Apresentação do PowerPoint</vt:lpstr>
      <vt:lpstr>Apresentação do PowerPoint</vt:lpstr>
      <vt:lpstr>Apresentação do PowerPoint</vt:lpstr>
      <vt:lpstr>Apresentação do PowerPoint</vt:lpstr>
      <vt:lpstr>Apresentação do PowerPoint</vt:lpstr>
      <vt:lpstr>Apresentação do PowerPoint</vt:lpstr>
      <vt:lpstr>IV. ORAÇÃO CONSCIENTE DA JUSTIÇA DE DEUS </vt:lpstr>
      <vt:lpstr>Apresentação do PowerPoint</vt:lpstr>
      <vt:lpstr>Apresentação do PowerPoint</vt:lpstr>
      <vt:lpstr>Apresentação do PowerPoint</vt:lpstr>
      <vt:lpstr>Apresentação do PowerPoint</vt:lpstr>
      <vt:lpstr>Apresentação do PowerPoint</vt:lpstr>
      <vt:lpstr>V. ORAÇÃO INTERCESSORA POR CAUSA DOS NOSSOS PECADOS</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VI. ORAÇÃO CONFIANTE NA MISERICÓRDIA E NO PERDÃO DE DEUS </vt:lpstr>
      <vt:lpstr>Apresentação do PowerPoint</vt:lpstr>
      <vt:lpstr>Apresentação do PowerPoint</vt:lpstr>
      <vt:lpstr>Apresentação do PowerPoint</vt:lpstr>
      <vt:lpstr>Apresentação do PowerPoint</vt:lpstr>
      <vt:lpstr>Apresentação do PowerPoint</vt:lpstr>
      <vt:lpstr>CONCLUSÃO: ORAR CONFORME A PALAVRA </vt:lpstr>
      <vt:lpstr>Apresentação do PowerPoint</vt:lpstr>
      <vt:lpstr>Apresentação do PowerPoint</vt:lpstr>
      <vt:lpstr>Apresentação do PowerPoint</vt:lpstr>
      <vt:lpstr>Apresentação do PowerPoint</vt:lpstr>
      <vt:lpstr>Apresentação do PowerPoint</vt:lpstr>
      <vt:lpstr>FIM</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ALAN</cp:lastModifiedBy>
  <cp:revision>18</cp:revision>
  <dcterms:created xsi:type="dcterms:W3CDTF">2026-10-24T15:20:11Z</dcterms:created>
  <dcterms:modified xsi:type="dcterms:W3CDTF">2026-10-29T20:34:54Z</dcterms:modified>
</cp:coreProperties>
</file>